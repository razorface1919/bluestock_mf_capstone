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  <p:embeddedFont>
      <p:font typeface="Bricolage Grotesque" charset="1" panose="020B0605040402000204"/>
      <p:regular r:id="rId20"/>
    </p:embeddedFont>
    <p:embeddedFont>
      <p:font typeface="Bricolage Grotesque Bold" charset="1" panose="020B0605040402000204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Razorface1919/bluestock_mf_capstone" TargetMode="External" Type="http://schemas.openxmlformats.org/officeDocument/2006/relationships/hyperlink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jpeg" Type="http://schemas.openxmlformats.org/officeDocument/2006/relationships/image"/><Relationship Id="rId9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15882" cy="10287000"/>
            <a:chOff x="0" y="0"/>
            <a:chExt cx="63628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6282" cy="2709333"/>
            </a:xfrm>
            <a:custGeom>
              <a:avLst/>
              <a:gdLst/>
              <a:ahLst/>
              <a:cxnLst/>
              <a:rect r="r" b="b" t="t" l="l"/>
              <a:pathLst>
                <a:path h="2709333" w="636282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921605" y="2653149"/>
            <a:ext cx="9241467" cy="9258300"/>
          </a:xfrm>
          <a:custGeom>
            <a:avLst/>
            <a:gdLst/>
            <a:ahLst/>
            <a:cxnLst/>
            <a:rect r="r" b="b" t="t" l="l"/>
            <a:pathLst>
              <a:path h="9258300" w="9241467">
                <a:moveTo>
                  <a:pt x="0" y="0"/>
                </a:moveTo>
                <a:lnTo>
                  <a:pt x="9241467" y="0"/>
                </a:lnTo>
                <a:lnTo>
                  <a:pt x="924146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096375" y="8287049"/>
            <a:ext cx="2772573" cy="1641261"/>
            <a:chOff x="0" y="0"/>
            <a:chExt cx="3696764" cy="218834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385418"/>
              <a:ext cx="134591" cy="13459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08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06484" y="47625"/>
              <a:ext cx="2749098" cy="3813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1"/>
                </a:lnSpc>
              </a:pPr>
              <a:r>
                <a:rPr lang="en-US" b="true" sz="215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PRESENTED BY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06484" y="536670"/>
              <a:ext cx="3190280" cy="3813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1"/>
                </a:lnSpc>
              </a:pPr>
              <a:r>
                <a:rPr lang="en-US" sz="215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Shubham Singh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06484" y="1323462"/>
              <a:ext cx="2749098" cy="3813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1"/>
                </a:lnSpc>
              </a:pPr>
              <a:r>
                <a:rPr lang="en-US" b="true" sz="215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DEPARTMENT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06484" y="1806966"/>
              <a:ext cx="3190280" cy="3813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1"/>
                </a:lnSpc>
              </a:pPr>
              <a:r>
                <a:rPr lang="en-US" sz="215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Data Analytics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1661082"/>
              <a:ext cx="134591" cy="134591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08"/>
                  </a:lnSpc>
                </a:pPr>
              </a:p>
            </p:txBody>
          </p:sp>
        </p:grpSp>
      </p:grpSp>
      <p:sp>
        <p:nvSpPr>
          <p:cNvPr name="TextBox 17" id="17"/>
          <p:cNvSpPr txBox="true"/>
          <p:nvPr/>
        </p:nvSpPr>
        <p:spPr>
          <a:xfrm rot="0">
            <a:off x="3320099" y="979891"/>
            <a:ext cx="7892357" cy="4239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1215" spc="-71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Mutual Fund Analytics Platform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21498" y="5152839"/>
            <a:ext cx="5494491" cy="1647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3"/>
              </a:lnSpc>
            </a:pPr>
            <a:r>
              <a:rPr lang="en-US" sz="3361" spc="-1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End-to-End D</a:t>
            </a:r>
            <a:r>
              <a:rPr lang="en-US" sz="3361" spc="-1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ata Pipeline, </a:t>
            </a:r>
          </a:p>
          <a:p>
            <a:pPr algn="just">
              <a:lnSpc>
                <a:spcPts val="4303"/>
              </a:lnSpc>
            </a:pPr>
            <a:r>
              <a:rPr lang="en-US" sz="3361" spc="-1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Quantitative Modelling, </a:t>
            </a:r>
          </a:p>
          <a:p>
            <a:pPr algn="just">
              <a:lnSpc>
                <a:spcPts val="4303"/>
              </a:lnSpc>
            </a:pPr>
            <a:r>
              <a:rPr lang="en-US" sz="3361" spc="-1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and Business Intelligence.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110794" y="1028700"/>
            <a:ext cx="3148506" cy="401435"/>
          </a:xfrm>
          <a:custGeom>
            <a:avLst/>
            <a:gdLst/>
            <a:ahLst/>
            <a:cxnLst/>
            <a:rect r="r" b="b" t="t" l="l"/>
            <a:pathLst>
              <a:path h="401435" w="3148506">
                <a:moveTo>
                  <a:pt x="0" y="0"/>
                </a:moveTo>
                <a:lnTo>
                  <a:pt x="3148506" y="0"/>
                </a:lnTo>
                <a:lnTo>
                  <a:pt x="3148506" y="401435"/>
                </a:lnTo>
                <a:lnTo>
                  <a:pt x="0" y="401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0727588" cy="1486615"/>
            <a:chOff x="0" y="0"/>
            <a:chExt cx="14303450" cy="198215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360883" y="200025"/>
              <a:ext cx="13942567" cy="1782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3"/>
                </a:lnSpc>
              </a:pPr>
              <a:r>
                <a:rPr lang="en-US" sz="9799" spc="-627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Problem &amp; Objective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0" y="212784"/>
              <a:ext cx="63500" cy="1556586"/>
              <a:chOff x="0" y="0"/>
              <a:chExt cx="12543" cy="30747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2543" cy="307474"/>
              </a:xfrm>
              <a:custGeom>
                <a:avLst/>
                <a:gdLst/>
                <a:ahLst/>
                <a:cxnLst/>
                <a:rect r="r" b="b" t="t" l="l"/>
                <a:pathLst>
                  <a:path h="307474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07474"/>
                    </a:lnTo>
                    <a:lnTo>
                      <a:pt x="0" y="307474"/>
                    </a:lnTo>
                    <a:close/>
                  </a:path>
                </a:pathLst>
              </a:custGeom>
              <a:solidFill>
                <a:srgbClr val="3A58E4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2543" cy="3455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7" id="7"/>
          <p:cNvSpPr txBox="true"/>
          <p:nvPr/>
        </p:nvSpPr>
        <p:spPr>
          <a:xfrm rot="0">
            <a:off x="1028700" y="3392860"/>
            <a:ext cx="9441351" cy="505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3"/>
              </a:lnSpc>
            </a:pPr>
            <a:r>
              <a:rPr lang="en-US" b="true" sz="3159" spc="-9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Problem:</a:t>
            </a:r>
            <a:r>
              <a:rPr lang="en-US" sz="3159" spc="-9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Ret</a:t>
            </a:r>
            <a:r>
              <a:rPr lang="en-US" sz="3159" spc="-9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ail mutual fund participation is exploding via SIPs, but high volatility and lack of risk-adjusted insights lead to severe investor churn.</a:t>
            </a:r>
          </a:p>
          <a:p>
            <a:pPr algn="just">
              <a:lnSpc>
                <a:spcPts val="4423"/>
              </a:lnSpc>
            </a:pPr>
          </a:p>
          <a:p>
            <a:pPr algn="just">
              <a:lnSpc>
                <a:spcPts val="4423"/>
              </a:lnSpc>
            </a:pPr>
            <a:r>
              <a:rPr lang="en-US" b="true" sz="3159" spc="-9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The Objective:</a:t>
            </a:r>
            <a:r>
              <a:rPr lang="en-US" sz="3159" spc="-9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Engineer an automated data pipeline to calculate institutional-grade risk metrics and deploy a predictive framework to mitigate retail churn.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699076" y="2667095"/>
            <a:ext cx="6560224" cy="6591205"/>
          </a:xfrm>
          <a:custGeom>
            <a:avLst/>
            <a:gdLst/>
            <a:ahLst/>
            <a:cxnLst/>
            <a:rect r="r" b="b" t="t" l="l"/>
            <a:pathLst>
              <a:path h="6591205" w="6560224">
                <a:moveTo>
                  <a:pt x="0" y="0"/>
                </a:moveTo>
                <a:lnTo>
                  <a:pt x="6560224" y="0"/>
                </a:lnTo>
                <a:lnTo>
                  <a:pt x="6560224" y="6591205"/>
                </a:lnTo>
                <a:lnTo>
                  <a:pt x="0" y="659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sp>
        <p:nvSpPr>
          <p:cNvPr name="AutoShape 7" id="7"/>
          <p:cNvSpPr/>
          <p:nvPr/>
        </p:nvSpPr>
        <p:spPr>
          <a:xfrm flipH="true">
            <a:off x="6542795" y="0"/>
            <a:ext cx="0" cy="1028700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074218" y="8243867"/>
            <a:ext cx="2350556" cy="457290"/>
          </a:xfrm>
          <a:custGeom>
            <a:avLst/>
            <a:gdLst/>
            <a:ahLst/>
            <a:cxnLst/>
            <a:rect r="r" b="b" t="t" l="l"/>
            <a:pathLst>
              <a:path h="457290" w="2350556">
                <a:moveTo>
                  <a:pt x="0" y="0"/>
                </a:moveTo>
                <a:lnTo>
                  <a:pt x="2350556" y="0"/>
                </a:lnTo>
                <a:lnTo>
                  <a:pt x="2350556" y="457290"/>
                </a:lnTo>
                <a:lnTo>
                  <a:pt x="0" y="457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107069" y="3542576"/>
            <a:ext cx="10255955" cy="5282406"/>
            <a:chOff x="0" y="0"/>
            <a:chExt cx="13674606" cy="704320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534396"/>
              <a:ext cx="13674606" cy="487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5"/>
                </a:lnSpc>
              </a:pPr>
              <a:r>
                <a:rPr lang="en-US" b="true" sz="2082" spc="-52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TIME-SERIES NORMALIZATION (THE WEEKEND FIX):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079520"/>
              <a:ext cx="13262636" cy="1820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30"/>
                </a:lnSpc>
              </a:pPr>
              <a:r>
                <a:rPr lang="en-US" sz="1950" spc="-5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Raw financial data contains severe gaps due to m</a:t>
              </a:r>
              <a:r>
                <a:rPr lang="en-US" sz="1950" spc="-5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arket closures. Applied business-day reindexing and forward-filling (ffill) to NAV arrays, ensuring volatility calculations are mathematically pure and not skewed by calendar-day anomalies.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13109404" cy="487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5"/>
                </a:lnSpc>
              </a:pPr>
              <a:r>
                <a:rPr lang="en-US" b="true" sz="2082" spc="-52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REAL-TIME &amp; HISTORICAL INGESTION: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78449"/>
              <a:ext cx="13514717" cy="1820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30"/>
                </a:lnSpc>
              </a:pPr>
              <a:r>
                <a:rPr lang="en-US" sz="1950" spc="-5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Sourced dynamic market data via the live AMFI API (mf</a:t>
              </a:r>
              <a:r>
                <a:rPr lang="en-US" sz="1950" spc="-5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api.in) alongside a massive internal dataset of over 46,000+ NAV records and ~32,000 transaction logs, ensuring the analysis reflects both current market conditions and deep historical investor behaviour.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134772"/>
              <a:ext cx="13674606" cy="487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5"/>
                </a:lnSpc>
              </a:pPr>
              <a:r>
                <a:rPr lang="en-US" b="true" sz="2082" spc="-52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OPTIMIZED RELATIONAL ARCHITECTURE: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679896"/>
              <a:ext cx="13262636" cy="136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30"/>
                </a:lnSpc>
              </a:pPr>
              <a:r>
                <a:rPr lang="en-US" sz="1950" spc="-5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Engineered a highly normalized, 5-table Star Schema in SQLite (Fact &amp; Dimension tables). This structu</a:t>
              </a:r>
              <a:r>
                <a:rPr lang="en-US" sz="1950" spc="-5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re resolved severe AUM scale disparities and optimized the backend for high-speed querying by the BI layer.</a:t>
              </a:r>
            </a:p>
          </p:txBody>
        </p:sp>
      </p:grpSp>
      <p:graphicFrame>
        <p:nvGraphicFramePr>
          <p:cNvPr name="Object 16" id="16"/>
          <p:cNvGraphicFramePr/>
          <p:nvPr/>
        </p:nvGraphicFramePr>
        <p:xfrm>
          <a:off x="275089" y="2440026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17" id="17"/>
          <p:cNvGrpSpPr/>
          <p:nvPr/>
        </p:nvGrpSpPr>
        <p:grpSpPr>
          <a:xfrm rot="0">
            <a:off x="7107069" y="924083"/>
            <a:ext cx="7335606" cy="2699444"/>
            <a:chOff x="0" y="0"/>
            <a:chExt cx="9780809" cy="359925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439184"/>
              <a:ext cx="63500" cy="2720890"/>
              <a:chOff x="0" y="0"/>
              <a:chExt cx="12543" cy="53746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543" cy="537460"/>
              </a:xfrm>
              <a:custGeom>
                <a:avLst/>
                <a:gdLst/>
                <a:ahLst/>
                <a:cxnLst/>
                <a:rect r="r" b="b" t="t" l="l"/>
                <a:pathLst>
                  <a:path h="537460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537460"/>
                    </a:lnTo>
                    <a:lnTo>
                      <a:pt x="0" y="537460"/>
                    </a:lnTo>
                    <a:close/>
                  </a:path>
                </a:pathLst>
              </a:custGeom>
              <a:solidFill>
                <a:srgbClr val="3A58E4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2543" cy="5755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04088" y="200025"/>
              <a:ext cx="9476721" cy="3399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3"/>
                </a:lnSpc>
              </a:pPr>
              <a:r>
                <a:rPr lang="en-US" sz="9799" spc="-627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Data</a:t>
              </a:r>
            </a:p>
            <a:p>
              <a:pPr algn="l">
                <a:lnSpc>
                  <a:spcPts val="9603"/>
                </a:lnSpc>
              </a:pPr>
              <a:r>
                <a:rPr lang="en-US" sz="9799" spc="-627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Sources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92011" y="0"/>
            <a:ext cx="1195989" cy="7173190"/>
            <a:chOff x="0" y="0"/>
            <a:chExt cx="314993" cy="1889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993" cy="1889235"/>
            </a:xfrm>
            <a:custGeom>
              <a:avLst/>
              <a:gdLst/>
              <a:ahLst/>
              <a:cxnLst/>
              <a:rect r="r" b="b" t="t" l="l"/>
              <a:pathLst>
                <a:path h="1889235" w="314993">
                  <a:moveTo>
                    <a:pt x="0" y="0"/>
                  </a:moveTo>
                  <a:lnTo>
                    <a:pt x="314993" y="0"/>
                  </a:lnTo>
                  <a:lnTo>
                    <a:pt x="314993" y="1889235"/>
                  </a:lnTo>
                  <a:lnTo>
                    <a:pt x="0" y="1889235"/>
                  </a:ln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4993" cy="1927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7173190"/>
            <a:ext cx="18288000" cy="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9525" y="7173190"/>
            <a:ext cx="546689" cy="3113810"/>
            <a:chOff x="0" y="0"/>
            <a:chExt cx="143984" cy="820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984" cy="820098"/>
            </a:xfrm>
            <a:custGeom>
              <a:avLst/>
              <a:gdLst/>
              <a:ahLst/>
              <a:cxnLst/>
              <a:rect r="r" b="b" t="t" l="l"/>
              <a:pathLst>
                <a:path h="820098" w="143984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3984" cy="858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0036" y="8242542"/>
            <a:ext cx="7710861" cy="975106"/>
            <a:chOff x="0" y="0"/>
            <a:chExt cx="10281147" cy="130014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3500" cy="1300142"/>
              <a:chOff x="0" y="0"/>
              <a:chExt cx="26250" cy="53746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6250" cy="537460"/>
              </a:xfrm>
              <a:custGeom>
                <a:avLst/>
                <a:gdLst/>
                <a:ahLst/>
                <a:cxnLst/>
                <a:rect r="r" b="b" t="t" l="l"/>
                <a:pathLst>
                  <a:path h="537460" w="26250">
                    <a:moveTo>
                      <a:pt x="0" y="0"/>
                    </a:moveTo>
                    <a:lnTo>
                      <a:pt x="26250" y="0"/>
                    </a:lnTo>
                    <a:lnTo>
                      <a:pt x="26250" y="537460"/>
                    </a:lnTo>
                    <a:lnTo>
                      <a:pt x="0" y="537460"/>
                    </a:lnTo>
                    <a:close/>
                  </a:path>
                </a:pathLst>
              </a:custGeom>
              <a:solidFill>
                <a:srgbClr val="3A58E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6250" cy="5755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65886" y="271748"/>
              <a:ext cx="10115261" cy="8518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88"/>
                </a:lnSpc>
              </a:pPr>
              <a:r>
                <a:rPr lang="en-US" sz="4682" spc="-29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End-to-End Analytics Pipeline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38046" y="8438834"/>
            <a:ext cx="1849954" cy="1848166"/>
            <a:chOff x="0" y="0"/>
            <a:chExt cx="2466605" cy="246422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9525" y="0"/>
            <a:ext cx="17101536" cy="7173190"/>
            <a:chOff x="0" y="0"/>
            <a:chExt cx="22802048" cy="9564253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712402" cy="9564253"/>
              <a:chOff x="0" y="0"/>
              <a:chExt cx="1387961" cy="232385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387961" cy="2323857"/>
              </a:xfrm>
              <a:custGeom>
                <a:avLst/>
                <a:gdLst/>
                <a:ahLst/>
                <a:cxnLst/>
                <a:rect r="r" b="b" t="t" l="l"/>
                <a:pathLst>
                  <a:path h="2323857" w="1387961">
                    <a:moveTo>
                      <a:pt x="0" y="0"/>
                    </a:moveTo>
                    <a:lnTo>
                      <a:pt x="1387961" y="0"/>
                    </a:lnTo>
                    <a:lnTo>
                      <a:pt x="1387961" y="2323857"/>
                    </a:lnTo>
                    <a:lnTo>
                      <a:pt x="0" y="2323857"/>
                    </a:lnTo>
                    <a:close/>
                  </a:path>
                </a:pathLst>
              </a:custGeom>
              <a:solidFill>
                <a:srgbClr val="2B42A8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387961" cy="2361957"/>
              </a:xfrm>
              <a:prstGeom prst="rect">
                <a:avLst/>
              </a:prstGeom>
            </p:spPr>
            <p:txBody>
              <a:bodyPr anchor="ctr" rtlCol="false" tIns="49921" lIns="49921" bIns="49921" rIns="49921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5696549" y="0"/>
              <a:ext cx="5712402" cy="9564253"/>
              <a:chOff x="0" y="0"/>
              <a:chExt cx="1387961" cy="232385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387961" cy="2323857"/>
              </a:xfrm>
              <a:custGeom>
                <a:avLst/>
                <a:gdLst/>
                <a:ahLst/>
                <a:cxnLst/>
                <a:rect r="r" b="b" t="t" l="l"/>
                <a:pathLst>
                  <a:path h="2323857" w="1387961">
                    <a:moveTo>
                      <a:pt x="0" y="0"/>
                    </a:moveTo>
                    <a:lnTo>
                      <a:pt x="1387961" y="0"/>
                    </a:lnTo>
                    <a:lnTo>
                      <a:pt x="1387961" y="2323857"/>
                    </a:lnTo>
                    <a:lnTo>
                      <a:pt x="0" y="2323857"/>
                    </a:lnTo>
                    <a:close/>
                  </a:path>
                </a:pathLst>
              </a:custGeom>
              <a:solidFill>
                <a:srgbClr val="3A58E4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387961" cy="2361957"/>
              </a:xfrm>
              <a:prstGeom prst="rect">
                <a:avLst/>
              </a:prstGeom>
            </p:spPr>
            <p:txBody>
              <a:bodyPr anchor="ctr" rtlCol="false" tIns="49921" lIns="49921" bIns="49921" rIns="49921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1393097" y="0"/>
              <a:ext cx="5712402" cy="9564253"/>
              <a:chOff x="0" y="0"/>
              <a:chExt cx="1387961" cy="232385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387961" cy="2323857"/>
              </a:xfrm>
              <a:custGeom>
                <a:avLst/>
                <a:gdLst/>
                <a:ahLst/>
                <a:cxnLst/>
                <a:rect r="r" b="b" t="t" l="l"/>
                <a:pathLst>
                  <a:path h="2323857" w="1387961">
                    <a:moveTo>
                      <a:pt x="0" y="0"/>
                    </a:moveTo>
                    <a:lnTo>
                      <a:pt x="1387961" y="0"/>
                    </a:lnTo>
                    <a:lnTo>
                      <a:pt x="1387961" y="2323857"/>
                    </a:lnTo>
                    <a:lnTo>
                      <a:pt x="0" y="2323857"/>
                    </a:lnTo>
                    <a:close/>
                  </a:path>
                </a:pathLst>
              </a:custGeom>
              <a:solidFill>
                <a:srgbClr val="6984FE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387961" cy="2361957"/>
              </a:xfrm>
              <a:prstGeom prst="rect">
                <a:avLst/>
              </a:prstGeom>
            </p:spPr>
            <p:txBody>
              <a:bodyPr anchor="ctr" rtlCol="false" tIns="49921" lIns="49921" bIns="49921" rIns="49921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089646" y="0"/>
              <a:ext cx="5712402" cy="9564253"/>
              <a:chOff x="0" y="0"/>
              <a:chExt cx="1387961" cy="232385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387961" cy="2323857"/>
              </a:xfrm>
              <a:custGeom>
                <a:avLst/>
                <a:gdLst/>
                <a:ahLst/>
                <a:cxnLst/>
                <a:rect r="r" b="b" t="t" l="l"/>
                <a:pathLst>
                  <a:path h="2323857" w="1387961">
                    <a:moveTo>
                      <a:pt x="0" y="0"/>
                    </a:moveTo>
                    <a:lnTo>
                      <a:pt x="1387961" y="0"/>
                    </a:lnTo>
                    <a:lnTo>
                      <a:pt x="1387961" y="2323857"/>
                    </a:lnTo>
                    <a:lnTo>
                      <a:pt x="0" y="2323857"/>
                    </a:lnTo>
                    <a:close/>
                  </a:path>
                </a:pathLst>
              </a:custGeom>
              <a:solidFill>
                <a:srgbClr val="9AADFF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387961" cy="2361957"/>
              </a:xfrm>
              <a:prstGeom prst="rect">
                <a:avLst/>
              </a:prstGeom>
            </p:spPr>
            <p:txBody>
              <a:bodyPr anchor="ctr" rtlCol="false" tIns="49921" lIns="49921" bIns="49921" rIns="49921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5400000">
              <a:off x="-241018" y="6936726"/>
              <a:ext cx="1107620" cy="625585"/>
              <a:chOff x="0" y="0"/>
              <a:chExt cx="1387983" cy="78403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387983" cy="782620"/>
              </a:xfrm>
              <a:custGeom>
                <a:avLst/>
                <a:gdLst/>
                <a:ahLst/>
                <a:cxnLst/>
                <a:rect r="r" b="b" t="t" l="l"/>
                <a:pathLst>
                  <a:path h="782620" w="1387983">
                    <a:moveTo>
                      <a:pt x="693992" y="0"/>
                    </a:moveTo>
                    <a:lnTo>
                      <a:pt x="1387983" y="782620"/>
                    </a:lnTo>
                    <a:lnTo>
                      <a:pt x="0" y="782620"/>
                    </a:lnTo>
                    <a:close/>
                  </a:path>
                </a:pathLst>
              </a:custGeom>
              <a:solidFill>
                <a:srgbClr val="AFBE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293871" y="292771"/>
                <a:ext cx="800241" cy="489849"/>
              </a:xfrm>
              <a:prstGeom prst="rect">
                <a:avLst/>
              </a:prstGeom>
            </p:spPr>
            <p:txBody>
              <a:bodyPr anchor="ctr" rtlCol="false" tIns="49921" lIns="49921" bIns="49921" rIns="49921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5400000">
              <a:off x="5421662" y="2001942"/>
              <a:ext cx="1107620" cy="625585"/>
              <a:chOff x="0" y="0"/>
              <a:chExt cx="1387983" cy="78403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387983" cy="782620"/>
              </a:xfrm>
              <a:custGeom>
                <a:avLst/>
                <a:gdLst/>
                <a:ahLst/>
                <a:cxnLst/>
                <a:rect r="r" b="b" t="t" l="l"/>
                <a:pathLst>
                  <a:path h="782620" w="1387983">
                    <a:moveTo>
                      <a:pt x="693992" y="0"/>
                    </a:moveTo>
                    <a:lnTo>
                      <a:pt x="1387983" y="782620"/>
                    </a:lnTo>
                    <a:lnTo>
                      <a:pt x="0" y="782620"/>
                    </a:lnTo>
                    <a:close/>
                  </a:path>
                </a:pathLst>
              </a:custGeom>
              <a:solidFill>
                <a:srgbClr val="2B42A8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293871" y="292771"/>
                <a:ext cx="800241" cy="489849"/>
              </a:xfrm>
              <a:prstGeom prst="rect">
                <a:avLst/>
              </a:prstGeom>
            </p:spPr>
            <p:txBody>
              <a:bodyPr anchor="ctr" rtlCol="false" tIns="49921" lIns="49921" bIns="49921" rIns="49921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5400000">
              <a:off x="11118211" y="6936726"/>
              <a:ext cx="1107620" cy="625585"/>
              <a:chOff x="0" y="0"/>
              <a:chExt cx="1387983" cy="78403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387983" cy="782620"/>
              </a:xfrm>
              <a:custGeom>
                <a:avLst/>
                <a:gdLst/>
                <a:ahLst/>
                <a:cxnLst/>
                <a:rect r="r" b="b" t="t" l="l"/>
                <a:pathLst>
                  <a:path h="782620" w="1387983">
                    <a:moveTo>
                      <a:pt x="693992" y="0"/>
                    </a:moveTo>
                    <a:lnTo>
                      <a:pt x="1387983" y="782620"/>
                    </a:lnTo>
                    <a:lnTo>
                      <a:pt x="0" y="782620"/>
                    </a:lnTo>
                    <a:close/>
                  </a:path>
                </a:pathLst>
              </a:custGeom>
              <a:solidFill>
                <a:srgbClr val="3A58E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293871" y="292771"/>
                <a:ext cx="800241" cy="489849"/>
              </a:xfrm>
              <a:prstGeom prst="rect">
                <a:avLst/>
              </a:prstGeom>
            </p:spPr>
            <p:txBody>
              <a:bodyPr anchor="ctr" rtlCol="false" tIns="49921" lIns="49921" bIns="49921" rIns="49921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5400000">
              <a:off x="16797825" y="2001942"/>
              <a:ext cx="1107620" cy="625585"/>
              <a:chOff x="0" y="0"/>
              <a:chExt cx="1387983" cy="78403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387983" cy="782620"/>
              </a:xfrm>
              <a:custGeom>
                <a:avLst/>
                <a:gdLst/>
                <a:ahLst/>
                <a:cxnLst/>
                <a:rect r="r" b="b" t="t" l="l"/>
                <a:pathLst>
                  <a:path h="782620" w="1387983">
                    <a:moveTo>
                      <a:pt x="693992" y="0"/>
                    </a:moveTo>
                    <a:lnTo>
                      <a:pt x="1387983" y="782620"/>
                    </a:lnTo>
                    <a:lnTo>
                      <a:pt x="0" y="782620"/>
                    </a:lnTo>
                    <a:close/>
                  </a:path>
                </a:pathLst>
              </a:custGeom>
              <a:solidFill>
                <a:srgbClr val="6984FE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293871" y="292771"/>
                <a:ext cx="800241" cy="489849"/>
              </a:xfrm>
              <a:prstGeom prst="rect">
                <a:avLst/>
              </a:prstGeom>
            </p:spPr>
            <p:txBody>
              <a:bodyPr anchor="ctr" rtlCol="false" tIns="49921" lIns="49921" bIns="49921" rIns="49921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1758711" y="834210"/>
              <a:ext cx="2317111" cy="1461751"/>
              <a:chOff x="0" y="0"/>
              <a:chExt cx="644210" cy="4064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1193" y="0"/>
                <a:ext cx="643017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3017">
                    <a:moveTo>
                      <a:pt x="285122" y="0"/>
                    </a:moveTo>
                    <a:cubicBezTo>
                      <a:pt x="368631" y="0"/>
                      <a:pt x="433052" y="57150"/>
                      <a:pt x="459298" y="127000"/>
                    </a:cubicBezTo>
                    <a:cubicBezTo>
                      <a:pt x="473613" y="121920"/>
                      <a:pt x="489122" y="119380"/>
                      <a:pt x="505824" y="119380"/>
                    </a:cubicBezTo>
                    <a:cubicBezTo>
                      <a:pt x="580982" y="119380"/>
                      <a:pt x="643017" y="185420"/>
                      <a:pt x="643017" y="265430"/>
                    </a:cubicBezTo>
                    <a:cubicBezTo>
                      <a:pt x="643017" y="346710"/>
                      <a:pt x="583368" y="406400"/>
                      <a:pt x="511789" y="406400"/>
                    </a:cubicBezTo>
                    <a:lnTo>
                      <a:pt x="141965" y="406400"/>
                    </a:lnTo>
                    <a:cubicBezTo>
                      <a:pt x="46526" y="406400"/>
                      <a:pt x="0" y="356870"/>
                      <a:pt x="0" y="287020"/>
                    </a:cubicBezTo>
                    <a:cubicBezTo>
                      <a:pt x="0" y="220980"/>
                      <a:pt x="47719" y="166370"/>
                      <a:pt x="107368" y="161290"/>
                    </a:cubicBezTo>
                    <a:cubicBezTo>
                      <a:pt x="124070" y="73660"/>
                      <a:pt x="189684" y="0"/>
                      <a:pt x="28512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13333" y="101600"/>
                <a:ext cx="453333" cy="3048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933946" y="3535132"/>
              <a:ext cx="3966641" cy="2215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000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AMFI Live API (Dynamic NAVs) &amp; Historical CSVs (46,000+ NAV records and ~32,000 transaction logs)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811815" y="2784149"/>
              <a:ext cx="4087189" cy="5934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29"/>
                </a:lnSpc>
                <a:spcBef>
                  <a:spcPct val="0"/>
                </a:spcBef>
              </a:pPr>
              <a:r>
                <a:rPr lang="en-US" b="true" sz="2664" spc="-170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DA</a:t>
              </a:r>
              <a:r>
                <a:rPr lang="en-US" b="true" sz="2664" spc="-170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TA INGESTION</a:t>
              </a:r>
            </a:p>
          </p:txBody>
        </p:sp>
        <p:sp>
          <p:nvSpPr>
            <p:cNvPr name="Freeform 49" id="49"/>
            <p:cNvSpPr/>
            <p:nvPr/>
          </p:nvSpPr>
          <p:spPr>
            <a:xfrm flipH="false" flipV="false" rot="0">
              <a:off x="7637036" y="3437959"/>
              <a:ext cx="991720" cy="991720"/>
            </a:xfrm>
            <a:custGeom>
              <a:avLst/>
              <a:gdLst/>
              <a:ahLst/>
              <a:cxnLst/>
              <a:rect r="r" b="b" t="t" l="l"/>
              <a:pathLst>
                <a:path h="991720" w="991720">
                  <a:moveTo>
                    <a:pt x="0" y="0"/>
                  </a:moveTo>
                  <a:lnTo>
                    <a:pt x="991720" y="0"/>
                  </a:lnTo>
                  <a:lnTo>
                    <a:pt x="991720" y="991719"/>
                  </a:lnTo>
                  <a:lnTo>
                    <a:pt x="0" y="991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7829828" y="2820249"/>
              <a:ext cx="1647722" cy="1285287"/>
            </a:xfrm>
            <a:custGeom>
              <a:avLst/>
              <a:gdLst/>
              <a:ahLst/>
              <a:cxnLst/>
              <a:rect r="r" b="b" t="t" l="l"/>
              <a:pathLst>
                <a:path h="1285287" w="1647722">
                  <a:moveTo>
                    <a:pt x="0" y="0"/>
                  </a:moveTo>
                  <a:lnTo>
                    <a:pt x="1647722" y="0"/>
                  </a:lnTo>
                  <a:lnTo>
                    <a:pt x="1647722" y="1285287"/>
                  </a:lnTo>
                  <a:lnTo>
                    <a:pt x="0" y="1285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0">
              <a:off x="6373600" y="6229353"/>
              <a:ext cx="4367386" cy="2215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000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Automated Python Pipeline (Pandas/NumPy) </a:t>
              </a:r>
            </a:p>
            <a:p>
              <a:pPr algn="ctr">
                <a:lnSpc>
                  <a:spcPts val="2600"/>
                </a:lnSpc>
              </a:pPr>
              <a:r>
                <a:rPr lang="en-US" sz="2000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Business-day reindexing, missing value forward-filling (ffill)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6302694" y="4972961"/>
              <a:ext cx="4500112" cy="593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33"/>
                </a:lnSpc>
                <a:spcBef>
                  <a:spcPct val="0"/>
                </a:spcBef>
              </a:pPr>
              <a:r>
                <a:rPr lang="en-US" b="true" sz="2666" spc="-170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ETL</a:t>
              </a:r>
              <a:r>
                <a:rPr lang="en-US" b="true" sz="2666" spc="-170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 &amp; NORMALIZATION</a:t>
              </a:r>
            </a:p>
          </p:txBody>
        </p:sp>
        <p:sp>
          <p:nvSpPr>
            <p:cNvPr name="Freeform 53" id="53"/>
            <p:cNvSpPr/>
            <p:nvPr/>
          </p:nvSpPr>
          <p:spPr>
            <a:xfrm flipH="false" flipV="false" rot="0">
              <a:off x="13322384" y="784185"/>
              <a:ext cx="1803026" cy="1709170"/>
            </a:xfrm>
            <a:custGeom>
              <a:avLst/>
              <a:gdLst/>
              <a:ahLst/>
              <a:cxnLst/>
              <a:rect r="r" b="b" t="t" l="l"/>
              <a:pathLst>
                <a:path h="1709170" w="1803026">
                  <a:moveTo>
                    <a:pt x="0" y="0"/>
                  </a:moveTo>
                  <a:lnTo>
                    <a:pt x="1803026" y="0"/>
                  </a:lnTo>
                  <a:lnTo>
                    <a:pt x="1803026" y="1709170"/>
                  </a:lnTo>
                  <a:lnTo>
                    <a:pt x="0" y="170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 rot="0">
              <a:off x="11904875" y="4374278"/>
              <a:ext cx="4638044" cy="1334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000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SQLite Database</a:t>
              </a:r>
            </a:p>
            <a:p>
              <a:pPr algn="ctr">
                <a:lnSpc>
                  <a:spcPts val="2600"/>
                </a:lnSpc>
              </a:pPr>
              <a:r>
                <a:rPr lang="en-US" sz="2000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5-Table Normalized Star Schema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11834399" y="3073848"/>
              <a:ext cx="4778995" cy="593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33"/>
                </a:lnSpc>
                <a:spcBef>
                  <a:spcPct val="0"/>
                </a:spcBef>
              </a:pPr>
              <a:r>
                <a:rPr lang="en-US" b="true" sz="2666" spc="-170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DATA WA</a:t>
              </a:r>
              <a:r>
                <a:rPr lang="en-US" b="true" sz="2666" spc="-170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REHOUSING</a:t>
              </a:r>
            </a:p>
          </p:txBody>
        </p:sp>
        <p:sp>
          <p:nvSpPr>
            <p:cNvPr name="Freeform 56" id="56"/>
            <p:cNvSpPr/>
            <p:nvPr/>
          </p:nvSpPr>
          <p:spPr>
            <a:xfrm flipH="false" flipV="false" rot="0">
              <a:off x="19589851" y="2847905"/>
              <a:ext cx="1254217" cy="553698"/>
            </a:xfrm>
            <a:custGeom>
              <a:avLst/>
              <a:gdLst/>
              <a:ahLst/>
              <a:cxnLst/>
              <a:rect r="r" b="b" t="t" l="l"/>
              <a:pathLst>
                <a:path h="553698" w="1254217">
                  <a:moveTo>
                    <a:pt x="0" y="0"/>
                  </a:moveTo>
                  <a:lnTo>
                    <a:pt x="1254217" y="0"/>
                  </a:lnTo>
                  <a:lnTo>
                    <a:pt x="1254217" y="553699"/>
                  </a:lnTo>
                  <a:lnTo>
                    <a:pt x="0" y="553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-126516"/>
              </a:stretch>
            </a:blip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20279092" y="3544174"/>
              <a:ext cx="564976" cy="557948"/>
            </a:xfrm>
            <a:custGeom>
              <a:avLst/>
              <a:gdLst/>
              <a:ahLst/>
              <a:cxnLst/>
              <a:rect r="r" b="b" t="t" l="l"/>
              <a:pathLst>
                <a:path h="557948" w="564976">
                  <a:moveTo>
                    <a:pt x="0" y="0"/>
                  </a:moveTo>
                  <a:lnTo>
                    <a:pt x="564976" y="0"/>
                  </a:lnTo>
                  <a:lnTo>
                    <a:pt x="564976" y="557948"/>
                  </a:lnTo>
                  <a:lnTo>
                    <a:pt x="0" y="557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121994" t="-124791" r="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 rot="0">
              <a:off x="17731045" y="6667182"/>
              <a:ext cx="4390329" cy="17749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000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Risk &amp; Performance Modeling</a:t>
              </a:r>
            </a:p>
            <a:p>
              <a:pPr algn="ctr">
                <a:lnSpc>
                  <a:spcPts val="2600"/>
                </a:lnSpc>
              </a:pPr>
              <a:r>
                <a:rPr lang="en-US" sz="2000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Computing VaR, CVaR, Sharpe, and HHI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7664333" y="5457501"/>
              <a:ext cx="4523753" cy="593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33"/>
                </a:lnSpc>
                <a:spcBef>
                  <a:spcPct val="0"/>
                </a:spcBef>
              </a:pPr>
              <a:r>
                <a:rPr lang="en-US" b="true" sz="2666" spc="-170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QUANTIT</a:t>
              </a:r>
              <a:r>
                <a:rPr lang="en-US" b="true" sz="2666" spc="-170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ATIVE ENGINE</a:t>
              </a:r>
            </a:p>
          </p:txBody>
        </p:sp>
        <p:sp>
          <p:nvSpPr>
            <p:cNvPr name="Freeform 60" id="60"/>
            <p:cNvSpPr/>
            <p:nvPr/>
          </p:nvSpPr>
          <p:spPr>
            <a:xfrm flipH="false" flipV="false" rot="0">
              <a:off x="18976533" y="4549437"/>
              <a:ext cx="560794" cy="558922"/>
            </a:xfrm>
            <a:custGeom>
              <a:avLst/>
              <a:gdLst/>
              <a:ahLst/>
              <a:cxnLst/>
              <a:rect r="r" b="b" t="t" l="l"/>
              <a:pathLst>
                <a:path h="558922" w="560794">
                  <a:moveTo>
                    <a:pt x="0" y="0"/>
                  </a:moveTo>
                  <a:lnTo>
                    <a:pt x="560794" y="0"/>
                  </a:lnTo>
                  <a:lnTo>
                    <a:pt x="560794" y="558922"/>
                  </a:lnTo>
                  <a:lnTo>
                    <a:pt x="0" y="558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124399" r="-123650" b="0"/>
              </a:stretch>
            </a:blip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9360606" y="3471471"/>
              <a:ext cx="872673" cy="1293721"/>
            </a:xfrm>
            <a:custGeom>
              <a:avLst/>
              <a:gdLst/>
              <a:ahLst/>
              <a:cxnLst/>
              <a:rect r="r" b="b" t="t" l="l"/>
              <a:pathLst>
                <a:path h="1293721" w="872673">
                  <a:moveTo>
                    <a:pt x="0" y="0"/>
                  </a:moveTo>
                  <a:lnTo>
                    <a:pt x="872674" y="0"/>
                  </a:lnTo>
                  <a:lnTo>
                    <a:pt x="872674" y="1293721"/>
                  </a:lnTo>
                  <a:lnTo>
                    <a:pt x="0" y="1293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 rot="0">
              <a:off x="3092190" y="6502756"/>
              <a:ext cx="2570490" cy="2496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5395"/>
                </a:lnSpc>
              </a:pPr>
              <a:r>
                <a:rPr lang="en-US" sz="11934" spc="-35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8346259" y="372176"/>
              <a:ext cx="2806479" cy="2496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5395"/>
                </a:lnSpc>
              </a:pPr>
              <a:r>
                <a:rPr lang="en-US" sz="11934" spc="-35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14020093" y="6502756"/>
              <a:ext cx="3042468" cy="2496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5395"/>
                </a:lnSpc>
              </a:pPr>
              <a:r>
                <a:rPr lang="en-US" sz="11934" spc="-35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19746140" y="372176"/>
              <a:ext cx="2806479" cy="2496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5395"/>
                </a:lnSpc>
              </a:pPr>
              <a:r>
                <a:rPr lang="en-US" sz="11934" spc="-35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35485" y="1028700"/>
            <a:ext cx="16306731" cy="2699444"/>
            <a:chOff x="0" y="0"/>
            <a:chExt cx="21742308" cy="359925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439184"/>
              <a:ext cx="63500" cy="2720890"/>
              <a:chOff x="0" y="0"/>
              <a:chExt cx="12543" cy="53746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2543" cy="537460"/>
              </a:xfrm>
              <a:custGeom>
                <a:avLst/>
                <a:gdLst/>
                <a:ahLst/>
                <a:cxnLst/>
                <a:rect r="r" b="b" t="t" l="l"/>
                <a:pathLst>
                  <a:path h="537460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537460"/>
                    </a:lnTo>
                    <a:lnTo>
                      <a:pt x="0" y="537460"/>
                    </a:lnTo>
                    <a:close/>
                  </a:path>
                </a:pathLst>
              </a:custGeom>
              <a:solidFill>
                <a:srgbClr val="3A58E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2543" cy="5755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04088" y="200025"/>
              <a:ext cx="21438220" cy="3399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3"/>
                </a:lnSpc>
              </a:pPr>
              <a:r>
                <a:rPr lang="en-US" sz="9799" spc="-627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EDA Highlights: Market Concentration &amp; AUM Trends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943360" y="3884212"/>
            <a:ext cx="6823031" cy="5490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3313" indent="-186657" lvl="1">
              <a:lnSpc>
                <a:spcPts val="2420"/>
              </a:lnSpc>
              <a:buFont typeface="Arial"/>
              <a:buChar char="•"/>
            </a:pPr>
            <a:r>
              <a:rPr lang="en-US" b="true" sz="1729" spc="-5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Explosive Capital Influx:</a:t>
            </a:r>
            <a:r>
              <a:rPr lang="en-US" sz="1729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Total industry AUM experienced massive expansion between January 2021 </a:t>
            </a:r>
            <a:r>
              <a:rPr lang="en-US" sz="1729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and January 2024, scaling from approximately 2.4 Billion to 3.8 Billion representing a robust ~58% growth in managed capital over just 36 months.</a:t>
            </a:r>
          </a:p>
          <a:p>
            <a:pPr algn="just" marL="373313" indent="-186657" lvl="1">
              <a:lnSpc>
                <a:spcPts val="2420"/>
              </a:lnSpc>
              <a:buFont typeface="Arial"/>
              <a:buChar char="•"/>
            </a:pPr>
            <a:r>
              <a:rPr lang="en-US" b="true" sz="1729" spc="-5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Structural Market Resilience:</a:t>
            </a:r>
            <a:r>
              <a:rPr lang="en-US" sz="1729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Despite global macro-economic headwinds and interest rate volatility during this three-year window, the AUM trajectory remained remarkably smooth. This indicates that domestic mutual funds have cemented themselves as the definitive wealth creation vehicle for retail investors.</a:t>
            </a:r>
          </a:p>
          <a:p>
            <a:pPr algn="just" marL="373313" indent="-186657" lvl="1">
              <a:lnSpc>
                <a:spcPts val="2420"/>
              </a:lnSpc>
              <a:buFont typeface="Arial"/>
              <a:buChar char="•"/>
            </a:pPr>
            <a:r>
              <a:rPr lang="en-US" b="true" sz="1729" spc="-5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The SIP Multiplier Effect:</a:t>
            </a:r>
            <a:r>
              <a:rPr lang="en-US" sz="1729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This consistent, compounding growth curve is the visual manifestation of systematic investment plans (SIPs). It proves that consistent monthly inflows provide a heavy anchor for AMCs, successfully offsetting the localized impacts of short-term market corrections.</a:t>
            </a:r>
          </a:p>
          <a:p>
            <a:pPr algn="just">
              <a:lnSpc>
                <a:spcPts val="2420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35485" y="3931837"/>
            <a:ext cx="10507875" cy="5046431"/>
          </a:xfrm>
          <a:custGeom>
            <a:avLst/>
            <a:gdLst/>
            <a:ahLst/>
            <a:cxnLst/>
            <a:rect r="r" b="b" t="t" l="l"/>
            <a:pathLst>
              <a:path h="5046431" w="10507875">
                <a:moveTo>
                  <a:pt x="0" y="0"/>
                </a:moveTo>
                <a:lnTo>
                  <a:pt x="10507875" y="0"/>
                </a:lnTo>
                <a:lnTo>
                  <a:pt x="10507875" y="5046431"/>
                </a:lnTo>
                <a:lnTo>
                  <a:pt x="0" y="5046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55" r="0" b="-2055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9285" y="1028700"/>
            <a:ext cx="17852515" cy="2699444"/>
            <a:chOff x="0" y="0"/>
            <a:chExt cx="23803354" cy="359925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439184"/>
              <a:ext cx="63500" cy="2720890"/>
              <a:chOff x="0" y="0"/>
              <a:chExt cx="12543" cy="53746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2543" cy="537460"/>
              </a:xfrm>
              <a:custGeom>
                <a:avLst/>
                <a:gdLst/>
                <a:ahLst/>
                <a:cxnLst/>
                <a:rect r="r" b="b" t="t" l="l"/>
                <a:pathLst>
                  <a:path h="537460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537460"/>
                    </a:lnTo>
                    <a:lnTo>
                      <a:pt x="0" y="537460"/>
                    </a:lnTo>
                    <a:close/>
                  </a:path>
                </a:pathLst>
              </a:custGeom>
              <a:solidFill>
                <a:srgbClr val="3A58E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2543" cy="5755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97367" y="200025"/>
              <a:ext cx="23505987" cy="3399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3"/>
                </a:lnSpc>
              </a:pPr>
              <a:r>
                <a:rPr lang="en-US" sz="9799" spc="-627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EDA Highlights: Investor Demographics &amp; Capital Allocation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59285" y="3834368"/>
            <a:ext cx="10257113" cy="5405080"/>
            <a:chOff x="0" y="0"/>
            <a:chExt cx="13676151" cy="72067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757756" y="0"/>
              <a:ext cx="7918395" cy="6330323"/>
            </a:xfrm>
            <a:custGeom>
              <a:avLst/>
              <a:gdLst/>
              <a:ahLst/>
              <a:cxnLst/>
              <a:rect r="r" b="b" t="t" l="l"/>
              <a:pathLst>
                <a:path h="6330323" w="7918395">
                  <a:moveTo>
                    <a:pt x="0" y="0"/>
                  </a:moveTo>
                  <a:lnTo>
                    <a:pt x="7918395" y="0"/>
                  </a:lnTo>
                  <a:lnTo>
                    <a:pt x="7918395" y="6330323"/>
                  </a:lnTo>
                  <a:lnTo>
                    <a:pt x="0" y="6330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433" r="0" b="-14653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58724" cy="6330323"/>
            </a:xfrm>
            <a:custGeom>
              <a:avLst/>
              <a:gdLst/>
              <a:ahLst/>
              <a:cxnLst/>
              <a:rect r="r" b="b" t="t" l="l"/>
              <a:pathLst>
                <a:path h="6330323" w="6858724">
                  <a:moveTo>
                    <a:pt x="0" y="0"/>
                  </a:moveTo>
                  <a:lnTo>
                    <a:pt x="6858724" y="0"/>
                  </a:lnTo>
                  <a:lnTo>
                    <a:pt x="6858724" y="6330323"/>
                  </a:lnTo>
                  <a:lnTo>
                    <a:pt x="0" y="6330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57" t="0" r="-245165" b="-1500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892554" y="6282698"/>
              <a:ext cx="4830124" cy="924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3"/>
                </a:lnSpc>
              </a:pPr>
              <a:r>
                <a:rPr lang="en-US" b="true" sz="2002" spc="-50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Insight: Retail dictates market momentum.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534887" y="6282698"/>
              <a:ext cx="4830124" cy="924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3"/>
                </a:lnSpc>
              </a:pPr>
              <a:r>
                <a:rPr lang="en-US" b="true" sz="2002" spc="-50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Insight: Capital is severely clustered.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16398" y="4206429"/>
            <a:ext cx="7209715" cy="3966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3313" indent="-186657" lvl="1">
              <a:lnSpc>
                <a:spcPts val="2420"/>
              </a:lnSpc>
              <a:buFont typeface="Arial"/>
              <a:buChar char="•"/>
            </a:pPr>
            <a:r>
              <a:rPr lang="en-US" b="true" sz="1729" spc="-5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Retail as the Growth Engine:</a:t>
            </a:r>
            <a:r>
              <a:rPr lang="en-US" sz="1729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Retail folios constitute the overwhelming majority of active market p</a:t>
            </a:r>
            <a:r>
              <a:rPr lang="en-US" sz="1729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articipation. This confirms that mitigating retail investor churn is the single most critical lever for sustaining AUM growth.</a:t>
            </a:r>
          </a:p>
          <a:p>
            <a:pPr algn="just" marL="373313" indent="-186657" lvl="1">
              <a:lnSpc>
                <a:spcPts val="2420"/>
              </a:lnSpc>
              <a:buFont typeface="Arial"/>
              <a:buChar char="•"/>
            </a:pPr>
            <a:r>
              <a:rPr lang="en-US" b="true" sz="1729" spc="-5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Hype</a:t>
            </a:r>
            <a:r>
              <a:rPr lang="en-US" b="true" sz="1729" spc="-5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r-Concentrated Allocation:</a:t>
            </a:r>
            <a:r>
              <a:rPr lang="en-US" sz="1729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Despite the availability of highly diversified funds, retail capital is disproportionately funneled into a narrow band of high-momentum sectoral and mid-cap themes, ignoring broader market safety.</a:t>
            </a:r>
          </a:p>
          <a:p>
            <a:pPr algn="just" marL="373313" indent="-186657" lvl="1">
              <a:lnSpc>
                <a:spcPts val="2420"/>
              </a:lnSpc>
              <a:buFont typeface="Arial"/>
              <a:buChar char="•"/>
            </a:pPr>
            <a:r>
              <a:rPr lang="en-US" b="true" sz="1729" spc="-5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The Volatility Trap:</a:t>
            </a:r>
            <a:r>
              <a:rPr lang="en-US" sz="1729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Because retail money is clustered rather than diversified, portfolios are highly correlated. A localized shock to these specific sectors serves as the primary catalyst for panic-selling, directly triggering our identified 35-day SIP churn gaps.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57333" y="2278057"/>
            <a:ext cx="8989010" cy="6061624"/>
            <a:chOff x="0" y="0"/>
            <a:chExt cx="11985346" cy="808216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3889437" y="3086557"/>
              <a:ext cx="4995608" cy="4995608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40108" lIns="40108" bIns="40108" rIns="4010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5064505" y="3951468"/>
              <a:ext cx="2645472" cy="980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97"/>
                </a:lnSpc>
              </a:pPr>
              <a:r>
                <a:rPr lang="en-US" b="true" sz="2246" spc="-6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CYCLICAL DECOUPLING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770274" y="4982583"/>
              <a:ext cx="3233934" cy="2212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727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Acti</a:t>
              </a:r>
              <a:r>
                <a:rPr lang="en-US" sz="1727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r>
                <a:rPr lang="en-US" sz="1727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 managers aggressively capitaliz</a:t>
              </a:r>
              <a:r>
                <a:rPr lang="en-US" sz="1727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ed on 2023-2025 market rallies, breaking away from index constraints.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0" y="1030146"/>
              <a:ext cx="4995608" cy="4995608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2857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40108" lIns="40108" bIns="40108" rIns="4010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820253" y="2064574"/>
              <a:ext cx="3139614" cy="492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97"/>
                </a:lnSpc>
              </a:pPr>
              <a:r>
                <a:rPr lang="en-US" b="true" sz="2246" spc="-6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MASSIVE ALPHA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820253" y="2652208"/>
              <a:ext cx="3233934" cy="2212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727" spc="-5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Top active funds delivered 250% to 350%+ normalized growth, completely outclassing flat passive benchmarks.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6989738" y="0"/>
              <a:ext cx="4995608" cy="4995608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2857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40108" lIns="40108" bIns="40108" rIns="4010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7809991" y="1034428"/>
              <a:ext cx="3139614" cy="492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97"/>
                </a:lnSpc>
              </a:pPr>
              <a:r>
                <a:rPr lang="en-US" b="true" sz="2246" spc="-6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RISK BLIND SPOT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809991" y="1622063"/>
              <a:ext cx="3233934" cy="2212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727" spc="-5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Absolute return charts hide true volatility, completely masking the downside tail risk taken to achieve these gains.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28201" y="2095928"/>
            <a:ext cx="7569515" cy="6577155"/>
          </a:xfrm>
          <a:custGeom>
            <a:avLst/>
            <a:gdLst/>
            <a:ahLst/>
            <a:cxnLst/>
            <a:rect r="r" b="b" t="t" l="l"/>
            <a:pathLst>
              <a:path h="6577155" w="7569515">
                <a:moveTo>
                  <a:pt x="0" y="0"/>
                </a:moveTo>
                <a:lnTo>
                  <a:pt x="7569515" y="0"/>
                </a:lnTo>
                <a:lnTo>
                  <a:pt x="7569515" y="6577155"/>
                </a:lnTo>
                <a:lnTo>
                  <a:pt x="0" y="657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2105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847981" y="1592520"/>
            <a:ext cx="8592039" cy="43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8"/>
              </a:lnSpc>
            </a:pPr>
            <a:r>
              <a:rPr lang="en-US" b="true" sz="2370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ABSOLUTE RETURNS VS. THE MARKET (ALPHA GENERATION)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00816" y="377614"/>
            <a:ext cx="11560683" cy="1292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Performance Metrics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334028" y="6944789"/>
            <a:ext cx="3512132" cy="1394892"/>
          </a:xfrm>
          <a:custGeom>
            <a:avLst/>
            <a:gdLst/>
            <a:ahLst/>
            <a:cxnLst/>
            <a:rect r="r" b="b" t="t" l="l"/>
            <a:pathLst>
              <a:path h="1394892" w="3512132">
                <a:moveTo>
                  <a:pt x="0" y="0"/>
                </a:moveTo>
                <a:lnTo>
                  <a:pt x="3512132" y="0"/>
                </a:lnTo>
                <a:lnTo>
                  <a:pt x="3512132" y="1394892"/>
                </a:lnTo>
                <a:lnTo>
                  <a:pt x="0" y="1394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662" t="-21418" r="-3502" b="-327576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08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847981" y="1592520"/>
            <a:ext cx="8592039" cy="43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8"/>
              </a:lnSpc>
            </a:pPr>
            <a:r>
              <a:rPr lang="en-US" b="true" sz="2370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RISK-ADJUSTED PERFORMANCE &amp; HIDDEN VULNERABILITIES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00816" y="377614"/>
            <a:ext cx="11560683" cy="1292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Performance Metrics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77124" y="2184594"/>
            <a:ext cx="7998996" cy="5344972"/>
            <a:chOff x="0" y="0"/>
            <a:chExt cx="10665328" cy="71266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65328" cy="7126629"/>
            </a:xfrm>
            <a:custGeom>
              <a:avLst/>
              <a:gdLst/>
              <a:ahLst/>
              <a:cxnLst/>
              <a:rect r="r" b="b" t="t" l="l"/>
              <a:pathLst>
                <a:path h="7126629" w="10665328">
                  <a:moveTo>
                    <a:pt x="0" y="0"/>
                  </a:moveTo>
                  <a:lnTo>
                    <a:pt x="10665328" y="0"/>
                  </a:lnTo>
                  <a:lnTo>
                    <a:pt x="10665328" y="7126629"/>
                  </a:lnTo>
                  <a:lnTo>
                    <a:pt x="0" y="7126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499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778945" y="353108"/>
              <a:ext cx="3786800" cy="1229323"/>
            </a:xfrm>
            <a:custGeom>
              <a:avLst/>
              <a:gdLst/>
              <a:ahLst/>
              <a:cxnLst/>
              <a:rect r="r" b="b" t="t" l="l"/>
              <a:pathLst>
                <a:path h="1229323" w="3786800">
                  <a:moveTo>
                    <a:pt x="0" y="0"/>
                  </a:moveTo>
                  <a:lnTo>
                    <a:pt x="3786800" y="0"/>
                  </a:lnTo>
                  <a:lnTo>
                    <a:pt x="3786800" y="1229323"/>
                  </a:lnTo>
                  <a:lnTo>
                    <a:pt x="0" y="1229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0195" t="-30070" r="0" b="-44964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716320" y="2222694"/>
            <a:ext cx="6721726" cy="5184008"/>
            <a:chOff x="0" y="0"/>
            <a:chExt cx="8962301" cy="69120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73973"/>
              <a:ext cx="8962301" cy="6638038"/>
            </a:xfrm>
            <a:custGeom>
              <a:avLst/>
              <a:gdLst/>
              <a:ahLst/>
              <a:cxnLst/>
              <a:rect r="r" b="b" t="t" l="l"/>
              <a:pathLst>
                <a:path h="6638038" w="8962301">
                  <a:moveTo>
                    <a:pt x="0" y="0"/>
                  </a:moveTo>
                  <a:lnTo>
                    <a:pt x="8962301" y="0"/>
                  </a:lnTo>
                  <a:lnTo>
                    <a:pt x="8962301" y="6638038"/>
                  </a:lnTo>
                  <a:lnTo>
                    <a:pt x="0" y="6638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294" r="-3376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39090" y="0"/>
              <a:ext cx="6511371" cy="273973"/>
            </a:xfrm>
            <a:custGeom>
              <a:avLst/>
              <a:gdLst/>
              <a:ahLst/>
              <a:cxnLst/>
              <a:rect r="r" b="b" t="t" l="l"/>
              <a:pathLst>
                <a:path h="273973" w="6511371">
                  <a:moveTo>
                    <a:pt x="0" y="0"/>
                  </a:moveTo>
                  <a:lnTo>
                    <a:pt x="6511371" y="0"/>
                  </a:lnTo>
                  <a:lnTo>
                    <a:pt x="6511371" y="273973"/>
                  </a:lnTo>
                  <a:lnTo>
                    <a:pt x="0" y="273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5789" t="-7424" r="-38319" b="-2419502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137200" y="4834495"/>
              <a:ext cx="2825101" cy="1542467"/>
            </a:xfrm>
            <a:custGeom>
              <a:avLst/>
              <a:gdLst/>
              <a:ahLst/>
              <a:cxnLst/>
              <a:rect r="r" b="b" t="t" l="l"/>
              <a:pathLst>
                <a:path h="1542467" w="2825101">
                  <a:moveTo>
                    <a:pt x="0" y="0"/>
                  </a:moveTo>
                  <a:lnTo>
                    <a:pt x="2825101" y="0"/>
                  </a:lnTo>
                  <a:lnTo>
                    <a:pt x="2825101" y="1542467"/>
                  </a:lnTo>
                  <a:lnTo>
                    <a:pt x="0" y="1542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4339" t="-20370" r="0" b="-32846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25759" y="7681965"/>
            <a:ext cx="2300723" cy="2300723"/>
            <a:chOff x="0" y="0"/>
            <a:chExt cx="3067631" cy="306763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067631" cy="3067631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40108" lIns="40108" bIns="40108" rIns="4010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92959" y="525933"/>
              <a:ext cx="2089597" cy="60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9"/>
                </a:lnSpc>
              </a:pPr>
              <a:r>
                <a:rPr lang="en-US" b="true" sz="1379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HIDDEN CONCENTRATION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46736" y="1217372"/>
              <a:ext cx="2766276" cy="1133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68"/>
                </a:lnSpc>
              </a:pPr>
              <a:r>
                <a:rPr lang="en-US" sz="1060" spc="-3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HHI Modeling (H</a:t>
              </a:r>
              <a:r>
                <a:rPr lang="en-US" sz="1060" spc="-3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erfindahl-Hirschman Index) reveals that top "diversifi</a:t>
              </a:r>
              <a:r>
                <a:rPr lang="en-US" sz="1060" spc="-3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ed" funds are actually hyper-clustered in just a few volatile sectors.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697619" y="7681965"/>
            <a:ext cx="2300723" cy="2300723"/>
            <a:chOff x="0" y="0"/>
            <a:chExt cx="3067631" cy="306763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3067631" cy="3067631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2857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9937" lIns="29937" bIns="29937" rIns="29937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514137" y="547155"/>
              <a:ext cx="1927929" cy="60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9"/>
                </a:lnSpc>
              </a:pPr>
              <a:r>
                <a:rPr lang="en-US" b="true" sz="1379" spc="-4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SHARPE COLLAPSE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61437" y="1174516"/>
              <a:ext cx="2541602" cy="1586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68"/>
                </a:lnSpc>
              </a:pPr>
              <a:r>
                <a:rPr lang="en-US" sz="1060" spc="-3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Rolling Sharpe analysis proves that fund efficiency frequently collapses into negative territory during market corrections, destroying risk-adjusted value.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50557" y="7681965"/>
            <a:ext cx="2300723" cy="2300723"/>
            <a:chOff x="0" y="0"/>
            <a:chExt cx="3067631" cy="3067631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3067631" cy="3067631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2857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9937" lIns="29937" bIns="29937" rIns="29937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261437" y="1119554"/>
              <a:ext cx="2541602" cy="1359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68"/>
                </a:lnSpc>
              </a:pPr>
              <a:r>
                <a:rPr lang="en-US" sz="1060" spc="-3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These concentrated portfolios exhibit dangerous Max Drawdowns and CVaR, serving as the exact panic triggers that cause retail investors to halt their SIPs.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514137" y="547155"/>
              <a:ext cx="1927929" cy="60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9"/>
                </a:lnSpc>
              </a:pPr>
              <a:r>
                <a:rPr lang="en-US" b="true" sz="1379" spc="-4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SEVERE TAIL RISK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09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01591" y="1886147"/>
            <a:ext cx="9636455" cy="1815025"/>
            <a:chOff x="0" y="0"/>
            <a:chExt cx="12848607" cy="242003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1436" cy="2310408"/>
              <a:chOff x="0" y="0"/>
              <a:chExt cx="18944" cy="53746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8944" cy="537460"/>
              </a:xfrm>
              <a:custGeom>
                <a:avLst/>
                <a:gdLst/>
                <a:ahLst/>
                <a:cxnLst/>
                <a:rect r="r" b="b" t="t" l="l"/>
                <a:pathLst>
                  <a:path h="537460" w="18944">
                    <a:moveTo>
                      <a:pt x="0" y="0"/>
                    </a:moveTo>
                    <a:lnTo>
                      <a:pt x="18944" y="0"/>
                    </a:lnTo>
                    <a:lnTo>
                      <a:pt x="18944" y="537460"/>
                    </a:lnTo>
                    <a:lnTo>
                      <a:pt x="0" y="537460"/>
                    </a:lnTo>
                    <a:close/>
                  </a:path>
                </a:pathLst>
              </a:custGeom>
              <a:solidFill>
                <a:srgbClr val="3A58E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8944" cy="5755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89979" y="133350"/>
              <a:ext cx="12458628" cy="2286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56"/>
                </a:lnSpc>
              </a:pPr>
              <a:r>
                <a:rPr lang="en-US" sz="6588" spc="-421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Business Intelligence: Macro Market Surveillance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30022" y="3983203"/>
            <a:ext cx="10500173" cy="5822446"/>
          </a:xfrm>
          <a:custGeom>
            <a:avLst/>
            <a:gdLst/>
            <a:ahLst/>
            <a:cxnLst/>
            <a:rect r="r" b="b" t="t" l="l"/>
            <a:pathLst>
              <a:path h="5822446" w="10500173">
                <a:moveTo>
                  <a:pt x="0" y="0"/>
                </a:moveTo>
                <a:lnTo>
                  <a:pt x="10500173" y="0"/>
                </a:lnTo>
                <a:lnTo>
                  <a:pt x="10500173" y="5822446"/>
                </a:lnTo>
                <a:lnTo>
                  <a:pt x="0" y="5822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708" t="-25278" r="-19100" b="-944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0022" y="286994"/>
            <a:ext cx="6077728" cy="3414178"/>
          </a:xfrm>
          <a:custGeom>
            <a:avLst/>
            <a:gdLst/>
            <a:ahLst/>
            <a:cxnLst/>
            <a:rect r="r" b="b" t="t" l="l"/>
            <a:pathLst>
              <a:path h="3414178" w="6077728">
                <a:moveTo>
                  <a:pt x="0" y="0"/>
                </a:moveTo>
                <a:lnTo>
                  <a:pt x="6077728" y="0"/>
                </a:lnTo>
                <a:lnTo>
                  <a:pt x="6077728" y="3414178"/>
                </a:lnTo>
                <a:lnTo>
                  <a:pt x="0" y="3414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162" t="-24975" r="-19706" b="-9071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619819" y="3983203"/>
            <a:ext cx="5950668" cy="5822446"/>
            <a:chOff x="0" y="0"/>
            <a:chExt cx="7934224" cy="776326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2677810"/>
              <a:ext cx="7934224" cy="2403350"/>
              <a:chOff x="0" y="0"/>
              <a:chExt cx="3045017" cy="92236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045017" cy="922364"/>
              </a:xfrm>
              <a:custGeom>
                <a:avLst/>
                <a:gdLst/>
                <a:ahLst/>
                <a:cxnLst/>
                <a:rect r="r" b="b" t="t" l="l"/>
                <a:pathLst>
                  <a:path h="922364" w="3045017">
                    <a:moveTo>
                      <a:pt x="47227" y="0"/>
                    </a:moveTo>
                    <a:lnTo>
                      <a:pt x="2997790" y="0"/>
                    </a:lnTo>
                    <a:cubicBezTo>
                      <a:pt x="3023872" y="0"/>
                      <a:pt x="3045017" y="21144"/>
                      <a:pt x="3045017" y="47227"/>
                    </a:cubicBezTo>
                    <a:lnTo>
                      <a:pt x="3045017" y="875137"/>
                    </a:lnTo>
                    <a:cubicBezTo>
                      <a:pt x="3045017" y="901220"/>
                      <a:pt x="3023872" y="922364"/>
                      <a:pt x="2997790" y="922364"/>
                    </a:cubicBezTo>
                    <a:lnTo>
                      <a:pt x="47227" y="922364"/>
                    </a:lnTo>
                    <a:cubicBezTo>
                      <a:pt x="21144" y="922364"/>
                      <a:pt x="0" y="901220"/>
                      <a:pt x="0" y="875137"/>
                    </a:cubicBezTo>
                    <a:lnTo>
                      <a:pt x="0" y="47227"/>
                    </a:lnTo>
                    <a:cubicBezTo>
                      <a:pt x="0" y="21144"/>
                      <a:pt x="21144" y="0"/>
                      <a:pt x="47227" y="0"/>
                    </a:cubicBezTo>
                    <a:close/>
                  </a:path>
                </a:pathLst>
              </a:custGeom>
              <a:ln w="38100" cap="rnd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045017" cy="960464"/>
              </a:xfrm>
              <a:prstGeom prst="rect">
                <a:avLst/>
              </a:prstGeom>
            </p:spPr>
            <p:txBody>
              <a:bodyPr anchor="ctr" rtlCol="false" tIns="33379" lIns="33379" bIns="33379" rIns="33379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363020" y="3435824"/>
              <a:ext cx="6182591" cy="1186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772"/>
                </a:lnSpc>
              </a:pPr>
              <a:r>
                <a:rPr lang="en-US" sz="1266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Unlike static PDF reports, the BI layer allows executives to slice macro data dynamically across specific Asset Management Companies (AMCs) and multi-year timeframes to isolate competitive market share.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363020" y="2982961"/>
              <a:ext cx="4915716" cy="458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66"/>
                </a:lnSpc>
              </a:pPr>
              <a:r>
                <a:rPr lang="en-US" b="true" sz="1885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Dynamic Slicing Architecture: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78737" y="3518000"/>
              <a:ext cx="984282" cy="799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2"/>
                </a:lnSpc>
              </a:pPr>
              <a:r>
                <a:rPr lang="en-US" sz="4357" spc="-130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378737" y="305094"/>
              <a:ext cx="7176750" cy="1793163"/>
              <a:chOff x="0" y="0"/>
              <a:chExt cx="2754311" cy="68818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754311" cy="688185"/>
              </a:xfrm>
              <a:custGeom>
                <a:avLst/>
                <a:gdLst/>
                <a:ahLst/>
                <a:cxnLst/>
                <a:rect r="r" b="b" t="t" l="l"/>
                <a:pathLst>
                  <a:path h="688185" w="2754311">
                    <a:moveTo>
                      <a:pt x="52211" y="0"/>
                    </a:moveTo>
                    <a:lnTo>
                      <a:pt x="2702100" y="0"/>
                    </a:lnTo>
                    <a:cubicBezTo>
                      <a:pt x="2715947" y="0"/>
                      <a:pt x="2729227" y="5501"/>
                      <a:pt x="2739019" y="15292"/>
                    </a:cubicBezTo>
                    <a:cubicBezTo>
                      <a:pt x="2748810" y="25084"/>
                      <a:pt x="2754311" y="38364"/>
                      <a:pt x="2754311" y="52211"/>
                    </a:cubicBezTo>
                    <a:lnTo>
                      <a:pt x="2754311" y="635973"/>
                    </a:lnTo>
                    <a:cubicBezTo>
                      <a:pt x="2754311" y="649820"/>
                      <a:pt x="2748810" y="663101"/>
                      <a:pt x="2739019" y="672892"/>
                    </a:cubicBezTo>
                    <a:cubicBezTo>
                      <a:pt x="2729227" y="682684"/>
                      <a:pt x="2715947" y="688185"/>
                      <a:pt x="2702100" y="688185"/>
                    </a:cubicBezTo>
                    <a:lnTo>
                      <a:pt x="52211" y="688185"/>
                    </a:lnTo>
                    <a:cubicBezTo>
                      <a:pt x="38364" y="688185"/>
                      <a:pt x="25084" y="682684"/>
                      <a:pt x="15292" y="672892"/>
                    </a:cubicBezTo>
                    <a:cubicBezTo>
                      <a:pt x="5501" y="663101"/>
                      <a:pt x="0" y="649820"/>
                      <a:pt x="0" y="635973"/>
                    </a:cubicBezTo>
                    <a:lnTo>
                      <a:pt x="0" y="52211"/>
                    </a:lnTo>
                    <a:cubicBezTo>
                      <a:pt x="0" y="38364"/>
                      <a:pt x="5501" y="25084"/>
                      <a:pt x="15292" y="15292"/>
                    </a:cubicBezTo>
                    <a:cubicBezTo>
                      <a:pt x="25084" y="5501"/>
                      <a:pt x="38364" y="0"/>
                      <a:pt x="5221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754311" cy="726285"/>
              </a:xfrm>
              <a:prstGeom prst="rect">
                <a:avLst/>
              </a:prstGeom>
            </p:spPr>
            <p:txBody>
              <a:bodyPr anchor="ctr" rtlCol="false" tIns="33379" lIns="33379" bIns="33379" rIns="33379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422703" y="585694"/>
              <a:ext cx="3548054" cy="458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66"/>
                </a:lnSpc>
              </a:pPr>
              <a:r>
                <a:rPr lang="en-US" b="true" sz="188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Performance</a:t>
              </a:r>
              <a:r>
                <a:rPr lang="en-US" b="true" sz="188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Trend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422703" y="1116788"/>
              <a:ext cx="4430958" cy="563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762"/>
                </a:lnSpc>
              </a:pPr>
              <a:r>
                <a:rPr lang="en-US" sz="125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Ove</a:t>
              </a:r>
              <a:r>
                <a:rPr lang="en-US" sz="125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rall performance shows consistent improvement across key metrics.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080562" y="840190"/>
              <a:ext cx="984282" cy="799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2"/>
                </a:lnSpc>
              </a:pPr>
              <a:r>
                <a:rPr lang="en-US" sz="4357" spc="-1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0" y="0"/>
              <a:ext cx="7934224" cy="2403350"/>
              <a:chOff x="0" y="0"/>
              <a:chExt cx="3045017" cy="92236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045017" cy="922364"/>
              </a:xfrm>
              <a:custGeom>
                <a:avLst/>
                <a:gdLst/>
                <a:ahLst/>
                <a:cxnLst/>
                <a:rect r="r" b="b" t="t" l="l"/>
                <a:pathLst>
                  <a:path h="922364" w="3045017">
                    <a:moveTo>
                      <a:pt x="47227" y="0"/>
                    </a:moveTo>
                    <a:lnTo>
                      <a:pt x="2997790" y="0"/>
                    </a:lnTo>
                    <a:cubicBezTo>
                      <a:pt x="3023872" y="0"/>
                      <a:pt x="3045017" y="21144"/>
                      <a:pt x="3045017" y="47227"/>
                    </a:cubicBezTo>
                    <a:lnTo>
                      <a:pt x="3045017" y="875137"/>
                    </a:lnTo>
                    <a:cubicBezTo>
                      <a:pt x="3045017" y="901220"/>
                      <a:pt x="3023872" y="922364"/>
                      <a:pt x="2997790" y="922364"/>
                    </a:cubicBezTo>
                    <a:lnTo>
                      <a:pt x="47227" y="922364"/>
                    </a:lnTo>
                    <a:cubicBezTo>
                      <a:pt x="21144" y="922364"/>
                      <a:pt x="0" y="901220"/>
                      <a:pt x="0" y="875137"/>
                    </a:cubicBezTo>
                    <a:lnTo>
                      <a:pt x="0" y="47227"/>
                    </a:lnTo>
                    <a:cubicBezTo>
                      <a:pt x="0" y="21144"/>
                      <a:pt x="21144" y="0"/>
                      <a:pt x="47227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3045017" cy="960464"/>
              </a:xfrm>
              <a:prstGeom prst="rect">
                <a:avLst/>
              </a:prstGeom>
            </p:spPr>
            <p:txBody>
              <a:bodyPr anchor="ctr" rtlCol="false" tIns="33379" lIns="33379" bIns="33379" rIns="33379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309365" y="305151"/>
              <a:ext cx="4263447" cy="458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66"/>
                </a:lnSpc>
              </a:pPr>
              <a:r>
                <a:rPr lang="en-US" b="true" sz="188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Live Ecosystem T</a:t>
              </a:r>
              <a:r>
                <a:rPr lang="en-US" b="true" sz="188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rack</a:t>
              </a:r>
              <a:r>
                <a:rPr lang="en-US" b="true" sz="188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ing: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309365" y="758013"/>
              <a:ext cx="6324644" cy="11412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762"/>
                </a:lnSpc>
              </a:pPr>
              <a:r>
                <a:rPr lang="en-US" sz="125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dashboard translates the norm</a:t>
              </a:r>
              <a:r>
                <a:rPr lang="en-US" sz="125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alized SQLite Star Schema into real-time visual intelligence, actively tracking industry-wide AUM expansion, total active folios (26.12 Crore), and monthly SIP inflows (₹31K Cr). 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53186" y="840190"/>
              <a:ext cx="773873" cy="799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2"/>
                </a:lnSpc>
              </a:pPr>
              <a:r>
                <a:rPr lang="en-US" sz="4357" spc="-1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0" y="5359911"/>
              <a:ext cx="7934224" cy="2403350"/>
              <a:chOff x="0" y="0"/>
              <a:chExt cx="3045017" cy="92236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3045017" cy="922364"/>
              </a:xfrm>
              <a:custGeom>
                <a:avLst/>
                <a:gdLst/>
                <a:ahLst/>
                <a:cxnLst/>
                <a:rect r="r" b="b" t="t" l="l"/>
                <a:pathLst>
                  <a:path h="922364" w="3045017">
                    <a:moveTo>
                      <a:pt x="47227" y="0"/>
                    </a:moveTo>
                    <a:lnTo>
                      <a:pt x="2997790" y="0"/>
                    </a:lnTo>
                    <a:cubicBezTo>
                      <a:pt x="3023872" y="0"/>
                      <a:pt x="3045017" y="21144"/>
                      <a:pt x="3045017" y="47227"/>
                    </a:cubicBezTo>
                    <a:lnTo>
                      <a:pt x="3045017" y="875137"/>
                    </a:lnTo>
                    <a:cubicBezTo>
                      <a:pt x="3045017" y="901220"/>
                      <a:pt x="3023872" y="922364"/>
                      <a:pt x="2997790" y="922364"/>
                    </a:cubicBezTo>
                    <a:lnTo>
                      <a:pt x="47227" y="922364"/>
                    </a:lnTo>
                    <a:cubicBezTo>
                      <a:pt x="21144" y="922364"/>
                      <a:pt x="0" y="901220"/>
                      <a:pt x="0" y="875137"/>
                    </a:cubicBezTo>
                    <a:lnTo>
                      <a:pt x="0" y="47227"/>
                    </a:lnTo>
                    <a:cubicBezTo>
                      <a:pt x="0" y="21144"/>
                      <a:pt x="21144" y="0"/>
                      <a:pt x="47227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3045017" cy="960464"/>
              </a:xfrm>
              <a:prstGeom prst="rect">
                <a:avLst/>
              </a:prstGeom>
            </p:spPr>
            <p:txBody>
              <a:bodyPr anchor="ctr" rtlCol="false" tIns="33379" lIns="33379" bIns="33379" rIns="33379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1309365" y="5665062"/>
              <a:ext cx="5589027" cy="458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66"/>
                </a:lnSpc>
              </a:pPr>
              <a:r>
                <a:rPr lang="en-US" b="true" sz="188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Trend &amp; Heatmap</a:t>
              </a:r>
              <a:r>
                <a:rPr lang="en-US" b="true" sz="188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Integ</a:t>
              </a:r>
              <a:r>
                <a:rPr lang="en-US" b="true" sz="188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ration: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309365" y="6148931"/>
              <a:ext cx="6324644" cy="11412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762"/>
                </a:lnSpc>
              </a:pPr>
              <a:r>
                <a:rPr lang="en-US" sz="125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Int</a:t>
              </a:r>
              <a:r>
                <a:rPr lang="en-US" sz="125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egrates complex category-level inflow data into an easily digestible matrix, allowing analysts to instantly spot which fund classes (e.g., Liquid vs. Flexi Cap) are driving quarterly momentum.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53186" y="6200100"/>
              <a:ext cx="956179" cy="799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2"/>
                </a:lnSpc>
              </a:pPr>
              <a:r>
                <a:rPr lang="en-US" sz="4357" spc="-1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10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8096" y="348613"/>
            <a:ext cx="13910258" cy="2292197"/>
            <a:chOff x="0" y="0"/>
            <a:chExt cx="18547011" cy="305626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372927"/>
              <a:ext cx="92423" cy="2310408"/>
              <a:chOff x="0" y="0"/>
              <a:chExt cx="21500" cy="53746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500" cy="537460"/>
              </a:xfrm>
              <a:custGeom>
                <a:avLst/>
                <a:gdLst/>
                <a:ahLst/>
                <a:cxnLst/>
                <a:rect r="r" b="b" t="t" l="l"/>
                <a:pathLst>
                  <a:path h="537460" w="21500">
                    <a:moveTo>
                      <a:pt x="0" y="0"/>
                    </a:moveTo>
                    <a:lnTo>
                      <a:pt x="21500" y="0"/>
                    </a:lnTo>
                    <a:lnTo>
                      <a:pt x="21500" y="537460"/>
                    </a:lnTo>
                    <a:lnTo>
                      <a:pt x="0" y="537460"/>
                    </a:lnTo>
                    <a:close/>
                  </a:path>
                </a:pathLst>
              </a:custGeom>
              <a:solidFill>
                <a:srgbClr val="3A58E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1500" cy="5755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42596" y="171450"/>
              <a:ext cx="18104415" cy="2884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54"/>
                </a:lnSpc>
              </a:pPr>
              <a:r>
                <a:rPr lang="en-US" sz="8320" spc="-532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BI Drill-Down: Fund Efficiency &amp; Investor Geography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58096" y="2874233"/>
            <a:ext cx="8601982" cy="4843334"/>
          </a:xfrm>
          <a:custGeom>
            <a:avLst/>
            <a:gdLst/>
            <a:ahLst/>
            <a:cxnLst/>
            <a:rect r="r" b="b" t="t" l="l"/>
            <a:pathLst>
              <a:path h="4843334" w="8601982">
                <a:moveTo>
                  <a:pt x="0" y="0"/>
                </a:moveTo>
                <a:lnTo>
                  <a:pt x="8601982" y="0"/>
                </a:lnTo>
                <a:lnTo>
                  <a:pt x="8601982" y="4843334"/>
                </a:lnTo>
                <a:lnTo>
                  <a:pt x="0" y="4843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355" t="-24850" r="-19721" b="-909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255156" y="2874233"/>
            <a:ext cx="8634086" cy="4843334"/>
          </a:xfrm>
          <a:custGeom>
            <a:avLst/>
            <a:gdLst/>
            <a:ahLst/>
            <a:cxnLst/>
            <a:rect r="r" b="b" t="t" l="l"/>
            <a:pathLst>
              <a:path h="4843334" w="8634086">
                <a:moveTo>
                  <a:pt x="0" y="0"/>
                </a:moveTo>
                <a:lnTo>
                  <a:pt x="8634086" y="0"/>
                </a:lnTo>
                <a:lnTo>
                  <a:pt x="8634086" y="4843334"/>
                </a:lnTo>
                <a:lnTo>
                  <a:pt x="0" y="48433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153" t="-24905" r="-19595" b="-9211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20411" y="8083824"/>
            <a:ext cx="16647178" cy="1619652"/>
            <a:chOff x="0" y="0"/>
            <a:chExt cx="22196237" cy="215953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7534420" y="0"/>
              <a:ext cx="7129317" cy="2159537"/>
              <a:chOff x="0" y="0"/>
              <a:chExt cx="3045017" cy="92236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045017" cy="922364"/>
              </a:xfrm>
              <a:custGeom>
                <a:avLst/>
                <a:gdLst/>
                <a:ahLst/>
                <a:cxnLst/>
                <a:rect r="r" b="b" t="t" l="l"/>
                <a:pathLst>
                  <a:path h="922364" w="3045017">
                    <a:moveTo>
                      <a:pt x="53420" y="0"/>
                    </a:moveTo>
                    <a:lnTo>
                      <a:pt x="2991596" y="0"/>
                    </a:lnTo>
                    <a:cubicBezTo>
                      <a:pt x="3021100" y="0"/>
                      <a:pt x="3045017" y="23917"/>
                      <a:pt x="3045017" y="53420"/>
                    </a:cubicBezTo>
                    <a:lnTo>
                      <a:pt x="3045017" y="868944"/>
                    </a:lnTo>
                    <a:cubicBezTo>
                      <a:pt x="3045017" y="883112"/>
                      <a:pt x="3039389" y="896699"/>
                      <a:pt x="3029370" y="906717"/>
                    </a:cubicBezTo>
                    <a:cubicBezTo>
                      <a:pt x="3019352" y="916736"/>
                      <a:pt x="3005764" y="922364"/>
                      <a:pt x="2991596" y="922364"/>
                    </a:cubicBezTo>
                    <a:lnTo>
                      <a:pt x="53420" y="922364"/>
                    </a:lnTo>
                    <a:cubicBezTo>
                      <a:pt x="23917" y="922364"/>
                      <a:pt x="0" y="898447"/>
                      <a:pt x="0" y="868944"/>
                    </a:cubicBezTo>
                    <a:lnTo>
                      <a:pt x="0" y="53420"/>
                    </a:lnTo>
                    <a:cubicBezTo>
                      <a:pt x="0" y="23917"/>
                      <a:pt x="23917" y="0"/>
                      <a:pt x="53420" y="0"/>
                    </a:cubicBezTo>
                    <a:close/>
                  </a:path>
                </a:pathLst>
              </a:custGeom>
              <a:ln w="38100" cap="rnd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045017" cy="960464"/>
              </a:xfrm>
              <a:prstGeom prst="rect">
                <a:avLst/>
              </a:prstGeom>
            </p:spPr>
            <p:txBody>
              <a:bodyPr anchor="ctr" rtlCol="false" tIns="29509" lIns="29509" bIns="29509" rIns="29509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8759164" y="668691"/>
              <a:ext cx="5555383" cy="1078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592"/>
                </a:lnSpc>
              </a:pPr>
              <a:r>
                <a:rPr lang="en-US" sz="1137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The dashboard features a granular time-series view, overlaying selected fund NAVs directly against benchmark indices to visualize alpha generation dynamically.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8759164" y="266464"/>
              <a:ext cx="4417029" cy="4200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75"/>
                </a:lnSpc>
              </a:pPr>
              <a:r>
                <a:rPr lang="en-US" b="true" sz="1694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Live Benchmarking: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7874735" y="762685"/>
              <a:ext cx="884429" cy="710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24"/>
                </a:lnSpc>
              </a:pPr>
              <a:r>
                <a:rPr lang="en-US" sz="3915" spc="-117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340315" y="274143"/>
              <a:ext cx="6448687" cy="1611251"/>
              <a:chOff x="0" y="0"/>
              <a:chExt cx="2754311" cy="68818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754311" cy="688185"/>
              </a:xfrm>
              <a:custGeom>
                <a:avLst/>
                <a:gdLst/>
                <a:ahLst/>
                <a:cxnLst/>
                <a:rect r="r" b="b" t="t" l="l"/>
                <a:pathLst>
                  <a:path h="688185" w="2754311">
                    <a:moveTo>
                      <a:pt x="59058" y="0"/>
                    </a:moveTo>
                    <a:lnTo>
                      <a:pt x="2695253" y="0"/>
                    </a:lnTo>
                    <a:cubicBezTo>
                      <a:pt x="2710916" y="0"/>
                      <a:pt x="2725938" y="6222"/>
                      <a:pt x="2737013" y="17298"/>
                    </a:cubicBezTo>
                    <a:cubicBezTo>
                      <a:pt x="2748089" y="28373"/>
                      <a:pt x="2754311" y="43395"/>
                      <a:pt x="2754311" y="59058"/>
                    </a:cubicBezTo>
                    <a:lnTo>
                      <a:pt x="2754311" y="629126"/>
                    </a:lnTo>
                    <a:cubicBezTo>
                      <a:pt x="2754311" y="644789"/>
                      <a:pt x="2748089" y="659811"/>
                      <a:pt x="2737013" y="670887"/>
                    </a:cubicBezTo>
                    <a:cubicBezTo>
                      <a:pt x="2725938" y="681962"/>
                      <a:pt x="2710916" y="688185"/>
                      <a:pt x="2695253" y="688185"/>
                    </a:cubicBezTo>
                    <a:lnTo>
                      <a:pt x="59058" y="688185"/>
                    </a:lnTo>
                    <a:cubicBezTo>
                      <a:pt x="43395" y="688185"/>
                      <a:pt x="28373" y="681962"/>
                      <a:pt x="17298" y="670887"/>
                    </a:cubicBezTo>
                    <a:cubicBezTo>
                      <a:pt x="6222" y="659811"/>
                      <a:pt x="0" y="644789"/>
                      <a:pt x="0" y="629126"/>
                    </a:cubicBezTo>
                    <a:lnTo>
                      <a:pt x="0" y="59058"/>
                    </a:lnTo>
                    <a:cubicBezTo>
                      <a:pt x="0" y="43395"/>
                      <a:pt x="6222" y="28373"/>
                      <a:pt x="17298" y="17298"/>
                    </a:cubicBezTo>
                    <a:cubicBezTo>
                      <a:pt x="28373" y="6222"/>
                      <a:pt x="43395" y="0"/>
                      <a:pt x="5905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754311" cy="726285"/>
              </a:xfrm>
              <a:prstGeom prst="rect">
                <a:avLst/>
              </a:prstGeom>
            </p:spPr>
            <p:txBody>
              <a:bodyPr anchor="ctr" rtlCol="false" tIns="29509" lIns="29509" bIns="29509" rIns="29509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176926" y="518546"/>
              <a:ext cx="3188113" cy="4200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75"/>
                </a:lnSpc>
              </a:pPr>
              <a:r>
                <a:rPr lang="en-US" b="true" sz="169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Performance</a:t>
              </a:r>
              <a:r>
                <a:rPr lang="en-US" b="true" sz="169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Trend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176926" y="991069"/>
              <a:ext cx="3981449" cy="518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583"/>
                </a:lnSpc>
              </a:pPr>
              <a:r>
                <a:rPr lang="en-US" sz="11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Ove</a:t>
              </a:r>
              <a:r>
                <a:rPr lang="en-US" sz="11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rall performance shows consistent improvement across key metrics.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970942" y="762685"/>
              <a:ext cx="884429" cy="710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24"/>
                </a:lnSpc>
              </a:pPr>
              <a:r>
                <a:rPr lang="en-US" sz="3915" spc="-11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0" y="0"/>
              <a:ext cx="7129317" cy="2159537"/>
              <a:chOff x="0" y="0"/>
              <a:chExt cx="3045017" cy="92236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045017" cy="922364"/>
              </a:xfrm>
              <a:custGeom>
                <a:avLst/>
                <a:gdLst/>
                <a:ahLst/>
                <a:cxnLst/>
                <a:rect r="r" b="b" t="t" l="l"/>
                <a:pathLst>
                  <a:path h="922364" w="3045017">
                    <a:moveTo>
                      <a:pt x="53420" y="0"/>
                    </a:moveTo>
                    <a:lnTo>
                      <a:pt x="2991596" y="0"/>
                    </a:lnTo>
                    <a:cubicBezTo>
                      <a:pt x="3021100" y="0"/>
                      <a:pt x="3045017" y="23917"/>
                      <a:pt x="3045017" y="53420"/>
                    </a:cubicBezTo>
                    <a:lnTo>
                      <a:pt x="3045017" y="868944"/>
                    </a:lnTo>
                    <a:cubicBezTo>
                      <a:pt x="3045017" y="883112"/>
                      <a:pt x="3039389" y="896699"/>
                      <a:pt x="3029370" y="906717"/>
                    </a:cubicBezTo>
                    <a:cubicBezTo>
                      <a:pt x="3019352" y="916736"/>
                      <a:pt x="3005764" y="922364"/>
                      <a:pt x="2991596" y="922364"/>
                    </a:cubicBezTo>
                    <a:lnTo>
                      <a:pt x="53420" y="922364"/>
                    </a:lnTo>
                    <a:cubicBezTo>
                      <a:pt x="23917" y="922364"/>
                      <a:pt x="0" y="898447"/>
                      <a:pt x="0" y="868944"/>
                    </a:cubicBezTo>
                    <a:lnTo>
                      <a:pt x="0" y="53420"/>
                    </a:lnTo>
                    <a:cubicBezTo>
                      <a:pt x="0" y="23917"/>
                      <a:pt x="23917" y="0"/>
                      <a:pt x="534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3045017" cy="960464"/>
              </a:xfrm>
              <a:prstGeom prst="rect">
                <a:avLst/>
              </a:prstGeom>
            </p:spPr>
            <p:txBody>
              <a:bodyPr anchor="ctr" rtlCol="false" tIns="29509" lIns="29509" bIns="29509" rIns="29509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176533" y="266464"/>
              <a:ext cx="3830931" cy="4200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75"/>
                </a:lnSpc>
              </a:pPr>
              <a:r>
                <a:rPr lang="en-US" b="true" sz="169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Risk vs. R</a:t>
              </a:r>
              <a:r>
                <a:rPr lang="en-US" b="true" sz="169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eturn Mat</a:t>
              </a:r>
              <a:r>
                <a:rPr lang="en-US" b="true" sz="169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rix: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176533" y="668691"/>
              <a:ext cx="5683025" cy="1037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583"/>
                </a:lnSpc>
              </a:pPr>
              <a:r>
                <a:rPr lang="en-US" sz="11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interactive scatter plot </a:t>
              </a:r>
              <a:r>
                <a:rPr lang="en-US" sz="11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allows stakeholders to immediately visualize fund efficiency by plotting 3-year returns against annualized volatility. Bubble sizes dynamically represent total AUM.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17356" y="762685"/>
              <a:ext cx="695365" cy="710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24"/>
                </a:lnSpc>
              </a:pPr>
              <a:r>
                <a:rPr lang="en-US" sz="3915" spc="-11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15066920" y="0"/>
              <a:ext cx="7129317" cy="2159537"/>
              <a:chOff x="0" y="0"/>
              <a:chExt cx="3045017" cy="92236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3045017" cy="922364"/>
              </a:xfrm>
              <a:custGeom>
                <a:avLst/>
                <a:gdLst/>
                <a:ahLst/>
                <a:cxnLst/>
                <a:rect r="r" b="b" t="t" l="l"/>
                <a:pathLst>
                  <a:path h="922364" w="3045017">
                    <a:moveTo>
                      <a:pt x="53420" y="0"/>
                    </a:moveTo>
                    <a:lnTo>
                      <a:pt x="2991596" y="0"/>
                    </a:lnTo>
                    <a:cubicBezTo>
                      <a:pt x="3021100" y="0"/>
                      <a:pt x="3045017" y="23917"/>
                      <a:pt x="3045017" y="53420"/>
                    </a:cubicBezTo>
                    <a:lnTo>
                      <a:pt x="3045017" y="868944"/>
                    </a:lnTo>
                    <a:cubicBezTo>
                      <a:pt x="3045017" y="883112"/>
                      <a:pt x="3039389" y="896699"/>
                      <a:pt x="3029370" y="906717"/>
                    </a:cubicBezTo>
                    <a:cubicBezTo>
                      <a:pt x="3019352" y="916736"/>
                      <a:pt x="3005764" y="922364"/>
                      <a:pt x="2991596" y="922364"/>
                    </a:cubicBezTo>
                    <a:lnTo>
                      <a:pt x="53420" y="922364"/>
                    </a:lnTo>
                    <a:cubicBezTo>
                      <a:pt x="23917" y="922364"/>
                      <a:pt x="0" y="898447"/>
                      <a:pt x="0" y="868944"/>
                    </a:cubicBezTo>
                    <a:lnTo>
                      <a:pt x="0" y="53420"/>
                    </a:lnTo>
                    <a:cubicBezTo>
                      <a:pt x="0" y="23917"/>
                      <a:pt x="23917" y="0"/>
                      <a:pt x="534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3045017" cy="960464"/>
              </a:xfrm>
              <a:prstGeom prst="rect">
                <a:avLst/>
              </a:prstGeom>
            </p:spPr>
            <p:txBody>
              <a:bodyPr anchor="ctr" rtlCol="false" tIns="29509" lIns="29509" bIns="29509" rIns="29509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16243453" y="266464"/>
              <a:ext cx="5022034" cy="4200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75"/>
                </a:lnSpc>
              </a:pPr>
              <a:r>
                <a:rPr lang="en-US" b="true" sz="169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Dynamic</a:t>
              </a:r>
              <a:r>
                <a:rPr lang="en-US" b="true" sz="169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Slicing</a:t>
              </a:r>
              <a:r>
                <a:rPr lang="en-US" b="true" sz="169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Architecture: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6243453" y="696552"/>
              <a:ext cx="5683025" cy="1037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583"/>
                </a:lnSpc>
              </a:pPr>
              <a:r>
                <a:rPr lang="en-US" sz="11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Unlike static PDF </a:t>
              </a:r>
              <a:r>
                <a:rPr lang="en-US" sz="11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reports, the BI layer allows executives to slice macro data dynamically across specific Asset Management Companies (AMCs) and multi-year timeframes to isolate competitive market share. 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5384276" y="762685"/>
              <a:ext cx="859177" cy="710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24"/>
                </a:lnSpc>
              </a:pPr>
              <a:r>
                <a:rPr lang="en-US" sz="3915" spc="-11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1268" y="614367"/>
            <a:ext cx="8212732" cy="1486615"/>
            <a:chOff x="0" y="0"/>
            <a:chExt cx="10950310" cy="198215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357797" y="200025"/>
              <a:ext cx="10592512" cy="1782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3"/>
                </a:lnSpc>
              </a:pPr>
              <a:r>
                <a:rPr lang="en-US" sz="9799" spc="-627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Key Findings: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0" y="137489"/>
              <a:ext cx="68104" cy="1730364"/>
              <a:chOff x="0" y="0"/>
              <a:chExt cx="13453" cy="341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3453" cy="341800"/>
              </a:xfrm>
              <a:custGeom>
                <a:avLst/>
                <a:gdLst/>
                <a:ahLst/>
                <a:cxnLst/>
                <a:rect r="r" b="b" t="t" l="l"/>
                <a:pathLst>
                  <a:path h="341800" w="13453">
                    <a:moveTo>
                      <a:pt x="0" y="0"/>
                    </a:moveTo>
                    <a:lnTo>
                      <a:pt x="13453" y="0"/>
                    </a:lnTo>
                    <a:lnTo>
                      <a:pt x="13453" y="341800"/>
                    </a:lnTo>
                    <a:lnTo>
                      <a:pt x="0" y="341800"/>
                    </a:lnTo>
                    <a:close/>
                  </a:path>
                </a:pathLst>
              </a:custGeom>
              <a:solidFill>
                <a:srgbClr val="3A58E4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3453" cy="379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7" id="7"/>
          <p:cNvSpPr txBox="true"/>
          <p:nvPr/>
        </p:nvSpPr>
        <p:spPr>
          <a:xfrm rot="0">
            <a:off x="931268" y="2233695"/>
            <a:ext cx="4643687" cy="43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8"/>
              </a:lnSpc>
            </a:pPr>
            <a:r>
              <a:rPr lang="en-US" b="true" sz="2370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SUMMARY OF CONCLUSIONS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8687136">
            <a:off x="5117600" y="2323156"/>
            <a:ext cx="189150" cy="228643"/>
          </a:xfrm>
          <a:custGeom>
            <a:avLst/>
            <a:gdLst/>
            <a:ahLst/>
            <a:cxnLst/>
            <a:rect r="r" b="b" t="t" l="l"/>
            <a:pathLst>
              <a:path h="228643" w="189150">
                <a:moveTo>
                  <a:pt x="0" y="0"/>
                </a:moveTo>
                <a:lnTo>
                  <a:pt x="189150" y="0"/>
                </a:lnTo>
                <a:lnTo>
                  <a:pt x="189150" y="228643"/>
                </a:lnTo>
                <a:lnTo>
                  <a:pt x="0" y="22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08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656539" y="2289541"/>
            <a:ext cx="5781507" cy="6838342"/>
          </a:xfrm>
          <a:custGeom>
            <a:avLst/>
            <a:gdLst/>
            <a:ahLst/>
            <a:cxnLst/>
            <a:rect r="r" b="b" t="t" l="l"/>
            <a:pathLst>
              <a:path h="6838342" w="5781507">
                <a:moveTo>
                  <a:pt x="0" y="0"/>
                </a:moveTo>
                <a:lnTo>
                  <a:pt x="5781507" y="0"/>
                </a:lnTo>
                <a:lnTo>
                  <a:pt x="5781507" y="6838342"/>
                </a:lnTo>
                <a:lnTo>
                  <a:pt x="0" y="68383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31268" y="3062179"/>
            <a:ext cx="9121516" cy="1542611"/>
            <a:chOff x="0" y="0"/>
            <a:chExt cx="12162022" cy="205681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1090252" y="-66675"/>
              <a:ext cx="11071770" cy="2123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b="true" sz="2267" spc="-56">
                  <a:solidFill>
                    <a:srgbClr val="3A58E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SIP</a:t>
              </a:r>
              <a:r>
                <a:rPr lang="en-US" b="true" sz="2267" spc="-56">
                  <a:solidFill>
                    <a:srgbClr val="3A58E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Churn Predictor: </a:t>
              </a:r>
              <a:r>
                <a:rPr lang="en-US" sz="2267" spc="-56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A &gt;35-day transaction gap is a definitive early-warning signal, enabling AMCs to trigger proactive retention campaigns before permanent churn occurs.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2095" cy="652095"/>
            </a:xfrm>
            <a:custGeom>
              <a:avLst/>
              <a:gdLst/>
              <a:ahLst/>
              <a:cxnLst/>
              <a:rect r="r" b="b" t="t" l="l"/>
              <a:pathLst>
                <a:path h="652095" w="652095">
                  <a:moveTo>
                    <a:pt x="0" y="0"/>
                  </a:moveTo>
                  <a:lnTo>
                    <a:pt x="652095" y="0"/>
                  </a:lnTo>
                  <a:lnTo>
                    <a:pt x="652095" y="652095"/>
                  </a:lnTo>
                  <a:lnTo>
                    <a:pt x="0" y="652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1268" y="4747889"/>
            <a:ext cx="9121516" cy="1144257"/>
            <a:chOff x="0" y="0"/>
            <a:chExt cx="12162022" cy="1525676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1090252" y="-64414"/>
              <a:ext cx="11071770" cy="1590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b="true" sz="2267" spc="-56">
                  <a:solidFill>
                    <a:srgbClr val="3A58E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Hidden</a:t>
              </a:r>
              <a:r>
                <a:rPr lang="en-US" b="true" sz="2267" spc="-56">
                  <a:solidFill>
                    <a:srgbClr val="3A58E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Concentration Risk:</a:t>
              </a:r>
              <a:r>
                <a:rPr lang="en-US" sz="2267" spc="-56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HHI modeling reveals many "diversified" funds are highly sector-clustered, exposing retail investors to severe tail risks and maximum drawdowns.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2095" cy="652095"/>
            </a:xfrm>
            <a:custGeom>
              <a:avLst/>
              <a:gdLst/>
              <a:ahLst/>
              <a:cxnLst/>
              <a:rect r="r" b="b" t="t" l="l"/>
              <a:pathLst>
                <a:path h="652095" w="652095">
                  <a:moveTo>
                    <a:pt x="0" y="0"/>
                  </a:moveTo>
                  <a:lnTo>
                    <a:pt x="652095" y="0"/>
                  </a:lnTo>
                  <a:lnTo>
                    <a:pt x="652095" y="652095"/>
                  </a:lnTo>
                  <a:lnTo>
                    <a:pt x="0" y="652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1268" y="6016195"/>
            <a:ext cx="9121516" cy="1544872"/>
            <a:chOff x="0" y="0"/>
            <a:chExt cx="12162022" cy="2059829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1090252" y="-63661"/>
              <a:ext cx="11071770" cy="2123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b="true" sz="2267" spc="-56">
                  <a:solidFill>
                    <a:srgbClr val="3A58E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Risk-Adjusted Efficiency: </a:t>
              </a:r>
              <a:r>
                <a:rPr lang="en-US" sz="2267" spc="-56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Despite genera</a:t>
              </a:r>
              <a:r>
                <a:rPr lang="en-US" sz="2267" spc="-56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ting massive absolute alpha, Rolling Sharpe analysis proves that active fund efficiency frequently collapses during market corrections.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2095" cy="652095"/>
            </a:xfrm>
            <a:custGeom>
              <a:avLst/>
              <a:gdLst/>
              <a:ahLst/>
              <a:cxnLst/>
              <a:rect r="r" b="b" t="t" l="l"/>
              <a:pathLst>
                <a:path h="652095" w="652095">
                  <a:moveTo>
                    <a:pt x="0" y="0"/>
                  </a:moveTo>
                  <a:lnTo>
                    <a:pt x="652095" y="0"/>
                  </a:lnTo>
                  <a:lnTo>
                    <a:pt x="652095" y="652095"/>
                  </a:lnTo>
                  <a:lnTo>
                    <a:pt x="0" y="652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1268" y="7699179"/>
            <a:ext cx="9121516" cy="1544872"/>
            <a:chOff x="0" y="0"/>
            <a:chExt cx="12162022" cy="2059829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1090252" y="-63661"/>
              <a:ext cx="11071770" cy="2123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b="true" sz="2267" spc="-56">
                  <a:solidFill>
                    <a:srgbClr val="3A58E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Geographic Expansion:</a:t>
              </a:r>
              <a:r>
                <a:rPr lang="en-US" sz="2267" spc="-56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With 66.3%</a:t>
              </a:r>
              <a:r>
                <a:rPr lang="en-US" sz="2267" spc="-56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of investment volume heavily concentrated in T30 cities, Beyond-30 (B30) regions represent the primary strategic frontier for new SIP acquisition.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2095" cy="652095"/>
            </a:xfrm>
            <a:custGeom>
              <a:avLst/>
              <a:gdLst/>
              <a:ahLst/>
              <a:cxnLst/>
              <a:rect r="r" b="b" t="t" l="l"/>
              <a:pathLst>
                <a:path h="652095" w="652095">
                  <a:moveTo>
                    <a:pt x="0" y="0"/>
                  </a:moveTo>
                  <a:lnTo>
                    <a:pt x="652095" y="0"/>
                  </a:lnTo>
                  <a:lnTo>
                    <a:pt x="652095" y="652095"/>
                  </a:lnTo>
                  <a:lnTo>
                    <a:pt x="0" y="652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1386" y="0"/>
            <a:ext cx="4646614" cy="10287000"/>
            <a:chOff x="0" y="0"/>
            <a:chExt cx="1223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3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23800">
                  <a:moveTo>
                    <a:pt x="0" y="0"/>
                  </a:moveTo>
                  <a:lnTo>
                    <a:pt x="1223800" y="0"/>
                  </a:lnTo>
                  <a:lnTo>
                    <a:pt x="1223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2380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7308293"/>
            <a:ext cx="441831" cy="441831"/>
          </a:xfrm>
          <a:custGeom>
            <a:avLst/>
            <a:gdLst/>
            <a:ahLst/>
            <a:cxnLst/>
            <a:rect r="r" b="b" t="t" l="l"/>
            <a:pathLst>
              <a:path h="441831" w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7988737"/>
            <a:ext cx="441831" cy="441831"/>
          </a:xfrm>
          <a:custGeom>
            <a:avLst/>
            <a:gdLst/>
            <a:ahLst/>
            <a:cxnLst/>
            <a:rect r="r" b="b" t="t" l="l"/>
            <a:pathLst>
              <a:path h="441831" w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673002"/>
            <a:ext cx="441831" cy="441831"/>
          </a:xfrm>
          <a:custGeom>
            <a:avLst/>
            <a:gdLst/>
            <a:ahLst/>
            <a:cxnLst/>
            <a:rect r="r" b="b" t="t" l="l"/>
            <a:pathLst>
              <a:path h="441831" w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986465" y="0"/>
            <a:ext cx="4378150" cy="10287000"/>
            <a:chOff x="0" y="0"/>
            <a:chExt cx="678290" cy="1593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8290" cy="1593725"/>
            </a:xfrm>
            <a:custGeom>
              <a:avLst/>
              <a:gdLst/>
              <a:ahLst/>
              <a:cxnLst/>
              <a:rect r="r" b="b" t="t" l="l"/>
              <a:pathLst>
                <a:path h="1593725" w="678290">
                  <a:moveTo>
                    <a:pt x="0" y="0"/>
                  </a:moveTo>
                  <a:lnTo>
                    <a:pt x="678290" y="0"/>
                  </a:lnTo>
                  <a:lnTo>
                    <a:pt x="678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8"/>
              <a:stretch>
                <a:fillRect l="-140465" t="0" r="-177245" b="0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13503000" y="0"/>
            <a:ext cx="0" cy="1028700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285665" y="1472380"/>
            <a:ext cx="3148506" cy="401435"/>
          </a:xfrm>
          <a:custGeom>
            <a:avLst/>
            <a:gdLst/>
            <a:ahLst/>
            <a:cxnLst/>
            <a:rect r="r" b="b" t="t" l="l"/>
            <a:pathLst>
              <a:path h="401435" w="3148506">
                <a:moveTo>
                  <a:pt x="0" y="0"/>
                </a:moveTo>
                <a:lnTo>
                  <a:pt x="3148506" y="0"/>
                </a:lnTo>
                <a:lnTo>
                  <a:pt x="3148506" y="401435"/>
                </a:lnTo>
                <a:lnTo>
                  <a:pt x="0" y="401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650619" y="4747942"/>
            <a:ext cx="2628148" cy="221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5"/>
              </a:lnSpc>
            </a:pPr>
            <a:r>
              <a:rPr lang="en-US" sz="1804" spc="-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project was built by Shubham Singh as a Capstone Project for the steps required as a succesful completion of the 2 months Internship.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8585" y="7314965"/>
            <a:ext cx="2891575" cy="43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6"/>
              </a:lnSpc>
            </a:pPr>
            <a:r>
              <a:rPr lang="en-US" sz="2760" spc="-10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7900542995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8585" y="7982548"/>
            <a:ext cx="5397477" cy="43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6"/>
              </a:lnSpc>
            </a:pPr>
            <a:r>
              <a:rPr lang="en-US" sz="2760" spc="-10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singh.shubham1901@gmail.com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8585" y="8679674"/>
            <a:ext cx="6381226" cy="43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6"/>
              </a:lnSpc>
            </a:pPr>
            <a:r>
              <a:rPr lang="en-US" sz="2760" spc="-104" u="sng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  <a:hlinkClick r:id="rId10" tooltip="https://github.com/Razorface1919/bluestock_mf_capstone"/>
              </a:rPr>
              <a:t>github.com/bluestock_mf_capstone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57250"/>
            <a:ext cx="6671890" cy="146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14"/>
              </a:lnSpc>
              <a:spcBef>
                <a:spcPct val="0"/>
              </a:spcBef>
            </a:pPr>
            <a:r>
              <a:rPr lang="en-US" b="true" sz="8510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287592"/>
            <a:ext cx="6824290" cy="2689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28"/>
              </a:lnSpc>
            </a:pPr>
            <a:r>
              <a:rPr lang="en-US" sz="7070" spc="-452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Completed Report for the Capstone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DAHMdlSjsig</dc:identifier>
  <dcterms:modified xsi:type="dcterms:W3CDTF">2011-08-01T06:04:30Z</dcterms:modified>
  <cp:revision>1</cp:revision>
  <dc:title>Mutual Fund Analytics Platform</dc:title>
</cp:coreProperties>
</file>